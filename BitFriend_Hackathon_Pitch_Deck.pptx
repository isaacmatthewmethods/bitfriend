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C1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F793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1005840"/>
            <a:ext cx="914400" cy="914400"/>
          </a:xfrm>
          <a:prstGeom prst="roundRect">
            <a:avLst/>
          </a:prstGeom>
          <a:solidFill>
            <a:srgbClr val="F793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4400" b="1">
                <a:solidFill>
                  <a:srgbClr val="090C10"/>
                </a:solidFill>
              </a:defRPr>
            </a:pPr>
            <a:r>
              <a:t>₿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0" y="960120"/>
            <a:ext cx="9601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600" b="1">
                <a:solidFill>
                  <a:srgbClr val="F9FAFB"/>
                </a:solidFill>
                <a:latin typeface="Segoe UI"/>
              </a:defRPr>
            </a:pPr>
            <a:r>
              <a:t>BitFriend (BitAboki)</a:t>
            </a:r>
          </a:p>
          <a:p>
            <a:pPr>
              <a:defRPr sz="1900" b="1">
                <a:solidFill>
                  <a:srgbClr val="F7931A"/>
                </a:solidFill>
                <a:latin typeface="Segoe UI"/>
              </a:defRPr>
            </a:pPr>
            <a:r>
              <a:t>Sovereign Offline-First Cashu Ecash, Lightning L2 &amp; Instant African Fiat Super-App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331720"/>
            <a:ext cx="10725912" cy="1691640"/>
          </a:xfrm>
          <a:prstGeom prst="roundRect">
            <a:avLst/>
          </a:prstGeom>
          <a:solidFill>
            <a:srgbClr val="11161F"/>
          </a:solidFill>
          <a:ln w="15240">
            <a:solidFill>
              <a:srgbClr val="2832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914400" y="2496312"/>
            <a:ext cx="502920" cy="54864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994392" y="2441448"/>
            <a:ext cx="12801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50" b="1">
                <a:solidFill>
                  <a:srgbClr val="10B981"/>
                </a:solidFill>
                <a:latin typeface="Consolas"/>
              </a:defRPr>
            </a:pPr>
            <a:r>
              <a:t>PRODUCTION READY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624327"/>
            <a:ext cx="10360152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F9FAFB"/>
                </a:solidFill>
                <a:latin typeface="Segoe UI"/>
              </a:defRPr>
            </a:pPr>
            <a:r>
              <a:t>Bridging Street-Level African Commerce with Cryptographic Bearer Cash</a:t>
            </a:r>
          </a:p>
          <a:p>
            <a:pPr>
              <a:spcAft>
                <a:spcPts val="600"/>
              </a:spcAft>
              <a:defRPr sz="1250">
                <a:solidFill>
                  <a:srgbClr val="D1D5DB"/>
                </a:solidFill>
                <a:latin typeface="Segoe UI"/>
              </a:defRPr>
            </a:pPr>
            <a:r>
              <a:t>▸  Zero-Downtime Payments: Chaumian Cashu Ecash (secp256k1 BDHKE) settles offline via QR, NFC tap, or BitChat.</a:t>
            </a:r>
          </a:p>
          <a:p>
            <a:pPr>
              <a:spcAft>
                <a:spcPts val="600"/>
              </a:spcAft>
              <a:defRPr sz="1250">
                <a:solidFill>
                  <a:srgbClr val="D1D5DB"/>
                </a:solidFill>
                <a:latin typeface="Segoe UI"/>
              </a:defRPr>
            </a:pPr>
            <a:r>
              <a:t>▸  Global Bitcoin Speed: Built-in LUD-16 Lightning Addresses (name@bitfriend.me) &amp; BOLT-11 instant L2 settlement.</a:t>
            </a:r>
          </a:p>
          <a:p>
            <a:pPr>
              <a:spcAft>
                <a:spcPts val="600"/>
              </a:spcAft>
              <a:defRPr sz="1250">
                <a:solidFill>
                  <a:srgbClr val="D1D5DB"/>
                </a:solidFill>
                <a:latin typeface="Segoe UI"/>
              </a:defRPr>
            </a:pPr>
            <a:r>
              <a:t>▸  Local Banking Rail: Instant Nigerian Bank NUBAN verification &amp; Naira (₦) NIP off-ramp to OPay, Moniepoint, GTB &amp; more.</a:t>
            </a:r>
          </a:p>
          <a:p>
            <a:pPr>
              <a:spcAft>
                <a:spcPts val="600"/>
              </a:spcAft>
              <a:defRPr sz="1250">
                <a:solidFill>
                  <a:srgbClr val="D1D5DB"/>
                </a:solidFill>
                <a:latin typeface="Segoe UI"/>
              </a:defRPr>
            </a:pPr>
            <a:r>
              <a:t>▸  100% Production Stack: React 19 PWA + Native Android APK + Express/SQLite WAL Node + Real-Time WebSockets.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4343400"/>
            <a:ext cx="2560320" cy="1508760"/>
          </a:xfrm>
          <a:prstGeom prst="roundRect">
            <a:avLst/>
          </a:prstGeom>
          <a:solidFill>
            <a:srgbClr val="181F2C"/>
          </a:solidFill>
          <a:ln w="15240">
            <a:solidFill>
              <a:srgbClr val="F793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1400"/>
              </a:spcBef>
              <a:defRPr sz="2200" b="1">
                <a:solidFill>
                  <a:srgbClr val="F7931A"/>
                </a:solidFill>
                <a:latin typeface="Segoe UI"/>
              </a:defRPr>
            </a:pPr>
            <a:r>
              <a:t>secp256k1</a:t>
            </a:r>
          </a:p>
          <a:p>
            <a:pPr algn="ctr">
              <a:spcBef>
                <a:spcPts val="800"/>
              </a:spcBef>
              <a:defRPr sz="1150">
                <a:solidFill>
                  <a:srgbClr val="D1D5DB"/>
                </a:solidFill>
                <a:latin typeface="Segoe UI"/>
              </a:defRPr>
            </a:pPr>
            <a:r>
              <a:t>Real BDHKE &amp; BIP-340 Schnorr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56432" y="4343400"/>
            <a:ext cx="2560320" cy="1508760"/>
          </a:xfrm>
          <a:prstGeom prst="roundRect">
            <a:avLst/>
          </a:prstGeom>
          <a:solidFill>
            <a:srgbClr val="181F2C"/>
          </a:solidFill>
          <a:ln w="1524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1400"/>
              </a:spcBef>
              <a:defRPr sz="2200" b="1">
                <a:solidFill>
                  <a:srgbClr val="10B981"/>
                </a:solidFill>
                <a:latin typeface="Segoe UI"/>
              </a:defRPr>
            </a:pPr>
            <a:r>
              <a:t>NUT-00/03/13</a:t>
            </a:r>
          </a:p>
          <a:p>
            <a:pPr algn="ctr">
              <a:spcBef>
                <a:spcPts val="800"/>
              </a:spcBef>
              <a:defRPr sz="1150">
                <a:solidFill>
                  <a:srgbClr val="D1D5DB"/>
                </a:solidFill>
                <a:latin typeface="Segoe UI"/>
              </a:defRPr>
            </a:pPr>
            <a:r>
              <a:t>Atomic Swap &amp; Seed Recovery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81344" y="4343400"/>
            <a:ext cx="2560320" cy="1508760"/>
          </a:xfrm>
          <a:prstGeom prst="roundRect">
            <a:avLst/>
          </a:prstGeom>
          <a:solidFill>
            <a:srgbClr val="181F2C"/>
          </a:solidFill>
          <a:ln w="1524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1400"/>
              </a:spcBef>
              <a:defRPr sz="2200" b="1">
                <a:solidFill>
                  <a:srgbClr val="3B82F6"/>
                </a:solidFill>
                <a:latin typeface="Segoe UI"/>
              </a:defRPr>
            </a:pPr>
            <a:r>
              <a:t>&lt; 250 ms</a:t>
            </a:r>
          </a:p>
          <a:p>
            <a:pPr algn="ctr">
              <a:spcBef>
                <a:spcPts val="800"/>
              </a:spcBef>
              <a:defRPr sz="1150">
                <a:solidFill>
                  <a:srgbClr val="D1D5DB"/>
                </a:solidFill>
                <a:latin typeface="Segoe UI"/>
              </a:defRPr>
            </a:pPr>
            <a:r>
              <a:t>Offline QR / NFC Bearer Finality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906256" y="4343400"/>
            <a:ext cx="2560320" cy="1508760"/>
          </a:xfrm>
          <a:prstGeom prst="roundRect">
            <a:avLst/>
          </a:prstGeom>
          <a:solidFill>
            <a:srgbClr val="181F2C"/>
          </a:solidFill>
          <a:ln w="15240">
            <a:solidFill>
              <a:srgbClr val="F793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1400"/>
              </a:spcBef>
              <a:defRPr sz="2200" b="1">
                <a:solidFill>
                  <a:srgbClr val="F7931A"/>
                </a:solidFill>
                <a:latin typeface="Segoe UI"/>
              </a:defRPr>
            </a:pPr>
            <a:r>
              <a:t>English + Hausa</a:t>
            </a:r>
          </a:p>
          <a:p>
            <a:pPr algn="ctr">
              <a:spcBef>
                <a:spcPts val="800"/>
              </a:spcBef>
              <a:defRPr sz="1150">
                <a:solidFill>
                  <a:srgbClr val="D1D5DB"/>
                </a:solidFill>
                <a:latin typeface="Segoe UI"/>
              </a:defRPr>
            </a:pPr>
            <a:r>
              <a:t>Bilingual UI &amp; Voice Receipts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6355080"/>
            <a:ext cx="108813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CA3AF"/>
                </a:solidFill>
                <a:latin typeface="Segoe UI"/>
              </a:defRPr>
            </a:pPr>
            <a:r>
              <a:t>BitFriend (BitAboki)  •  Sovereign Cashu Ecash, Lightning L2 &amp; African Banking Super-App          Slide 1 / 12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C1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F793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40080" y="411480"/>
            <a:ext cx="2560320" cy="329184"/>
          </a:xfrm>
          <a:prstGeom prst="roundRect">
            <a:avLst/>
          </a:prstGeom>
          <a:solidFill>
            <a:srgbClr val="181F2C"/>
          </a:solidFill>
          <a:ln w="12700">
            <a:solidFill>
              <a:srgbClr val="F793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000" b="1">
                <a:solidFill>
                  <a:srgbClr val="F7931A"/>
                </a:solidFill>
                <a:latin typeface="Segoe UI"/>
              </a:defRPr>
            </a:pPr>
            <a:r>
              <a:t>01 • THE 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22960"/>
            <a:ext cx="108813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F9FAFB"/>
                </a:solidFill>
                <a:latin typeface="Segoe UI"/>
              </a:defRPr>
            </a:pPr>
            <a:r>
              <a:t>Why Everyday Merchants &amp; Traders Lose Billions to Broken Payment Rails</a:t>
            </a:r>
          </a:p>
          <a:p>
            <a:pPr>
              <a:spcBef>
                <a:spcPts val="400"/>
              </a:spcBef>
              <a:defRPr sz="1400">
                <a:solidFill>
                  <a:srgbClr val="9CA3AF"/>
                </a:solidFill>
                <a:latin typeface="Segoe UI"/>
              </a:defRPr>
            </a:pPr>
            <a:r>
              <a:t>Across Nigeria and West Africa, informal commerce accounts for &gt;65% of GDP — yet digital payments fail when needed most.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783080"/>
            <a:ext cx="3474720" cy="4206240"/>
          </a:xfrm>
          <a:prstGeom prst="roundRect">
            <a:avLst/>
          </a:prstGeom>
          <a:solidFill>
            <a:srgbClr val="11161F"/>
          </a:solidFill>
          <a:ln w="15240">
            <a:solidFill>
              <a:srgbClr val="2832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22959" y="1947672"/>
            <a:ext cx="502920" cy="54864"/>
          </a:xfrm>
          <a:prstGeom prst="rect">
            <a:avLst/>
          </a:prstGeom>
          <a:solidFill>
            <a:srgbClr val="F793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651760" y="1892807"/>
            <a:ext cx="12801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50" b="1">
                <a:solidFill>
                  <a:srgbClr val="F7931A"/>
                </a:solidFill>
                <a:latin typeface="Consolas"/>
              </a:defRPr>
            </a:pPr>
            <a:r>
              <a:t>INFRASTRUCTURE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59" y="2075688"/>
            <a:ext cx="3108960" cy="3794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F9FAFB"/>
                </a:solidFill>
                <a:latin typeface="Segoe UI"/>
              </a:defRPr>
            </a:pPr>
            <a:r>
              <a:t>1. Chronic Bank &amp; POS Failures</a:t>
            </a:r>
          </a:p>
          <a:p>
            <a:pPr>
              <a:spcAft>
                <a:spcPts val="600"/>
              </a:spcAft>
              <a:defRPr sz="1250">
                <a:solidFill>
                  <a:srgbClr val="D1D5DB"/>
                </a:solidFill>
                <a:latin typeface="Segoe UI"/>
              </a:defRPr>
            </a:pPr>
            <a:r>
              <a:t>▸  Customers wait 15–45 minutes in markets for delayed NIP bank transfer alerts.</a:t>
            </a:r>
          </a:p>
          <a:p>
            <a:pPr>
              <a:spcAft>
                <a:spcPts val="600"/>
              </a:spcAft>
              <a:defRPr sz="1250">
                <a:solidFill>
                  <a:srgbClr val="D1D5DB"/>
                </a:solidFill>
                <a:latin typeface="Segoe UI"/>
              </a:defRPr>
            </a:pPr>
            <a:r>
              <a:t>▸  Congested 3G/4G towers in busy trading hubs cause high POS timeout rates.</a:t>
            </a:r>
          </a:p>
          <a:p>
            <a:pPr>
              <a:spcAft>
                <a:spcPts val="600"/>
              </a:spcAft>
              <a:defRPr sz="1250">
                <a:solidFill>
                  <a:srgbClr val="D1D5DB"/>
                </a:solidFill>
                <a:latin typeface="Segoe UI"/>
              </a:defRPr>
            </a:pPr>
            <a:r>
              <a:t>▸  Fake bank alert SMS scams cost street merchants thousands of Naira daily.</a:t>
            </a:r>
          </a:p>
          <a:p>
            <a:pPr>
              <a:spcAft>
                <a:spcPts val="600"/>
              </a:spcAft>
              <a:defRPr sz="1250">
                <a:solidFill>
                  <a:srgbClr val="D1D5DB"/>
                </a:solidFill>
                <a:latin typeface="Segoe UI"/>
              </a:defRPr>
            </a:pPr>
            <a:r>
              <a:t>▸  Merchants revert to physical cash, exposing them to theft and inflation.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43400" y="1783080"/>
            <a:ext cx="3474720" cy="4206240"/>
          </a:xfrm>
          <a:prstGeom prst="roundRect">
            <a:avLst/>
          </a:prstGeom>
          <a:solidFill>
            <a:srgbClr val="11161F"/>
          </a:solidFill>
          <a:ln w="15240">
            <a:solidFill>
              <a:srgbClr val="2832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26280" y="1947672"/>
            <a:ext cx="502920" cy="54864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55080" y="1892807"/>
            <a:ext cx="12801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50" b="1">
                <a:solidFill>
                  <a:srgbClr val="3B82F6"/>
                </a:solidFill>
                <a:latin typeface="Consolas"/>
              </a:defRPr>
            </a:pPr>
            <a:r>
              <a:t>UX BARRIER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26280" y="2075688"/>
            <a:ext cx="3108960" cy="3794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F9FAFB"/>
                </a:solidFill>
                <a:latin typeface="Segoe UI"/>
              </a:defRPr>
            </a:pPr>
            <a:r>
              <a:t>2. Standard Crypto UX Fails Traders</a:t>
            </a:r>
          </a:p>
          <a:p>
            <a:pPr>
              <a:spcAft>
                <a:spcPts val="600"/>
              </a:spcAft>
              <a:defRPr sz="1250">
                <a:solidFill>
                  <a:srgbClr val="D1D5DB"/>
                </a:solidFill>
                <a:latin typeface="Segoe UI"/>
              </a:defRPr>
            </a:pPr>
            <a:r>
              <a:t>▸  On-chain Bitcoin fees and 10-minute blocks are unusable for buying ₦1,500 food items.</a:t>
            </a:r>
          </a:p>
          <a:p>
            <a:pPr>
              <a:spcAft>
                <a:spcPts val="600"/>
              </a:spcAft>
              <a:defRPr sz="1250">
                <a:solidFill>
                  <a:srgbClr val="D1D5DB"/>
                </a:solidFill>
                <a:latin typeface="Segoe UI"/>
              </a:defRPr>
            </a:pPr>
            <a:r>
              <a:t>▸  Standard Lightning requires both sender &amp; receiver to be online simultaneously.</a:t>
            </a:r>
          </a:p>
          <a:p>
            <a:pPr>
              <a:spcAft>
                <a:spcPts val="600"/>
              </a:spcAft>
              <a:defRPr sz="1250">
                <a:solidFill>
                  <a:srgbClr val="D1D5DB"/>
                </a:solidFill>
                <a:latin typeface="Segoe UI"/>
              </a:defRPr>
            </a:pPr>
            <a:r>
              <a:t>▸  Complex hex addresses and English-only interfaces alienate Northern/Grassroots traders.</a:t>
            </a:r>
          </a:p>
          <a:p>
            <a:pPr>
              <a:spcAft>
                <a:spcPts val="600"/>
              </a:spcAft>
              <a:defRPr sz="1250">
                <a:solidFill>
                  <a:srgbClr val="D1D5DB"/>
                </a:solidFill>
                <a:latin typeface="Segoe UI"/>
              </a:defRPr>
            </a:pPr>
            <a:r>
              <a:t>▸  Custodial apps freeze accounts without warning and require heavy onboarding.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46720" y="1783080"/>
            <a:ext cx="3474720" cy="4206240"/>
          </a:xfrm>
          <a:prstGeom prst="roundRect">
            <a:avLst/>
          </a:prstGeom>
          <a:solidFill>
            <a:srgbClr val="11161F"/>
          </a:solidFill>
          <a:ln w="15240">
            <a:solidFill>
              <a:srgbClr val="2832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229600" y="1947672"/>
            <a:ext cx="502920" cy="54864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058400" y="1892807"/>
            <a:ext cx="12801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50" b="1">
                <a:solidFill>
                  <a:srgbClr val="10B981"/>
                </a:solidFill>
                <a:latin typeface="Consolas"/>
              </a:defRPr>
            </a:pPr>
            <a:r>
              <a:t>LIQUIDITY GAP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0" y="2075688"/>
            <a:ext cx="3108960" cy="3794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F9FAFB"/>
                </a:solidFill>
                <a:latin typeface="Segoe UI"/>
              </a:defRPr>
            </a:pPr>
            <a:r>
              <a:t>3. Unprotected Community Savings</a:t>
            </a:r>
          </a:p>
          <a:p>
            <a:pPr>
              <a:spcAft>
                <a:spcPts val="600"/>
              </a:spcAft>
              <a:defRPr sz="1250">
                <a:solidFill>
                  <a:srgbClr val="D1D5DB"/>
                </a:solidFill>
                <a:latin typeface="Segoe UI"/>
              </a:defRPr>
            </a:pPr>
            <a:r>
              <a:t>▸  Millions rely on traditional rotating thrift circles (Adashi / Esusu / Ajo).</a:t>
            </a:r>
          </a:p>
          <a:p>
            <a:pPr>
              <a:spcAft>
                <a:spcPts val="600"/>
              </a:spcAft>
              <a:defRPr sz="1250">
                <a:solidFill>
                  <a:srgbClr val="D1D5DB"/>
                </a:solidFill>
                <a:latin typeface="Segoe UI"/>
              </a:defRPr>
            </a:pPr>
            <a:r>
              <a:t>▸  Paper ledgers and human treasurers suffer from defaults, disputes, and inflation.</a:t>
            </a:r>
          </a:p>
          <a:p>
            <a:pPr>
              <a:spcAft>
                <a:spcPts val="600"/>
              </a:spcAft>
              <a:defRPr sz="1250">
                <a:solidFill>
                  <a:srgbClr val="D1D5DB"/>
                </a:solidFill>
                <a:latin typeface="Segoe UI"/>
              </a:defRPr>
            </a:pPr>
            <a:r>
              <a:t>▸  Traders lack a unified tool combining POS inventory, supplier chat, and Naira cash-out.</a:t>
            </a:r>
          </a:p>
          <a:p>
            <a:pPr>
              <a:spcAft>
                <a:spcPts val="600"/>
              </a:spcAft>
              <a:defRPr sz="1250">
                <a:solidFill>
                  <a:srgbClr val="D1D5DB"/>
                </a:solidFill>
                <a:latin typeface="Segoe UI"/>
              </a:defRPr>
            </a:pPr>
            <a:r>
              <a:t>▸  No existing wallet bridges offline Bitcoin bearer notes directly to Nigerian banks.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6355080"/>
            <a:ext cx="108813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CA3AF"/>
                </a:solidFill>
                <a:latin typeface="Segoe UI"/>
              </a:defRPr>
            </a:pPr>
            <a:r>
              <a:t>BitFriend (BitAboki)  •  Sovereign Cashu Ecash, Lightning L2 &amp; African Banking Super-App          Slide 2 / 12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C1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F793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40080" y="411480"/>
            <a:ext cx="2560320" cy="329184"/>
          </a:xfrm>
          <a:prstGeom prst="roundRect">
            <a:avLst/>
          </a:prstGeom>
          <a:solidFill>
            <a:srgbClr val="181F2C"/>
          </a:solidFill>
          <a:ln w="12700">
            <a:solidFill>
              <a:srgbClr val="F793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000" b="1">
                <a:solidFill>
                  <a:srgbClr val="F7931A"/>
                </a:solidFill>
                <a:latin typeface="Segoe UI"/>
              </a:defRPr>
            </a:pPr>
            <a:r>
              <a:t>02 • OUR SOLUTION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22960"/>
            <a:ext cx="108813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F9FAFB"/>
                </a:solidFill>
                <a:latin typeface="Segoe UI"/>
              </a:defRPr>
            </a:pPr>
            <a:r>
              <a:t>BitFriend: Three Financial Rails Unified in One Sovereign Super-App</a:t>
            </a:r>
          </a:p>
          <a:p>
            <a:pPr>
              <a:spcBef>
                <a:spcPts val="400"/>
              </a:spcBef>
              <a:defRPr sz="1400">
                <a:solidFill>
                  <a:srgbClr val="9CA3AF"/>
                </a:solidFill>
                <a:latin typeface="Segoe UI"/>
              </a:defRPr>
            </a:pPr>
            <a:r>
              <a:t>Designed specifically for high-frequency merchants, cooperative savers, and cross-corridor traders.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783080"/>
            <a:ext cx="3474720" cy="4206240"/>
          </a:xfrm>
          <a:prstGeom prst="roundRect">
            <a:avLst/>
          </a:prstGeom>
          <a:solidFill>
            <a:srgbClr val="11161F"/>
          </a:solidFill>
          <a:ln w="15240">
            <a:solidFill>
              <a:srgbClr val="2832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22959" y="1947672"/>
            <a:ext cx="502920" cy="54864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651760" y="1892807"/>
            <a:ext cx="12801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50" b="1">
                <a:solidFill>
                  <a:srgbClr val="10B981"/>
                </a:solidFill>
                <a:latin typeface="Consolas"/>
              </a:defRPr>
            </a:pPr>
            <a:r>
              <a:t>OFFLINE BEARER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59" y="2075688"/>
            <a:ext cx="3108960" cy="3794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F9FAFB"/>
                </a:solidFill>
                <a:latin typeface="Segoe UI"/>
              </a:defRPr>
            </a:pPr>
            <a:r>
              <a:t>Rail 1: Cashu Chaumian Ecash</a:t>
            </a:r>
          </a:p>
          <a:p>
            <a:pPr>
              <a:spcAft>
                <a:spcPts val="600"/>
              </a:spcAft>
              <a:defRPr sz="1250">
                <a:solidFill>
                  <a:srgbClr val="D1D5DB"/>
                </a:solidFill>
                <a:latin typeface="Segoe UI"/>
              </a:defRPr>
            </a:pPr>
            <a:r>
              <a:t>▸  Bearer Satoshis backed 1:1 by Bitcoin.</a:t>
            </a:r>
          </a:p>
          <a:p>
            <a:pPr>
              <a:spcAft>
                <a:spcPts val="600"/>
              </a:spcAft>
              <a:defRPr sz="1250">
                <a:solidFill>
                  <a:srgbClr val="D1D5DB"/>
                </a:solidFill>
                <a:latin typeface="Segoe UI"/>
              </a:defRPr>
            </a:pPr>
            <a:r>
              <a:t>▸  Uses secp256k1 Blind Diffie-Hellman (BDHKE) signatures (C = k·Y).</a:t>
            </a:r>
          </a:p>
          <a:p>
            <a:pPr>
              <a:spcAft>
                <a:spcPts val="600"/>
              </a:spcAft>
              <a:defRPr sz="1250">
                <a:solidFill>
                  <a:srgbClr val="D1D5DB"/>
                </a:solidFill>
                <a:latin typeface="Segoe UI"/>
              </a:defRPr>
            </a:pPr>
            <a:r>
              <a:t>▸  Works offline via QR scan, WebNFC tap, or copy-paste voucher strings (cashuA...).</a:t>
            </a:r>
          </a:p>
          <a:p>
            <a:pPr>
              <a:spcAft>
                <a:spcPts val="600"/>
              </a:spcAft>
              <a:defRPr sz="1250">
                <a:solidFill>
                  <a:srgbClr val="D1D5DB"/>
                </a:solidFill>
                <a:latin typeface="Segoe UI"/>
              </a:defRPr>
            </a:pPr>
            <a:r>
              <a:t>▸  Atomic NUT-03 swaps &amp; SQLite spent_secrets registry prevent double-spending.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43400" y="1783080"/>
            <a:ext cx="3474720" cy="4206240"/>
          </a:xfrm>
          <a:prstGeom prst="roundRect">
            <a:avLst/>
          </a:prstGeom>
          <a:solidFill>
            <a:srgbClr val="11161F"/>
          </a:solidFill>
          <a:ln w="15240">
            <a:solidFill>
              <a:srgbClr val="2832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26280" y="1947672"/>
            <a:ext cx="502920" cy="54864"/>
          </a:xfrm>
          <a:prstGeom prst="rect">
            <a:avLst/>
          </a:prstGeom>
          <a:solidFill>
            <a:srgbClr val="F793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55080" y="1892807"/>
            <a:ext cx="12801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50" b="1">
                <a:solidFill>
                  <a:srgbClr val="F7931A"/>
                </a:solidFill>
                <a:latin typeface="Consolas"/>
              </a:defRPr>
            </a:pPr>
            <a:r>
              <a:t>GLOBAL L2 SPEED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26280" y="2075688"/>
            <a:ext cx="3108960" cy="3794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F9FAFB"/>
                </a:solidFill>
                <a:latin typeface="Segoe UI"/>
              </a:defRPr>
            </a:pPr>
            <a:r>
              <a:t>Rail 2: Lightning L2 Bridge</a:t>
            </a:r>
          </a:p>
          <a:p>
            <a:pPr>
              <a:spcAft>
                <a:spcPts val="600"/>
              </a:spcAft>
              <a:defRPr sz="1250">
                <a:solidFill>
                  <a:srgbClr val="D1D5DB"/>
                </a:solidFill>
                <a:latin typeface="Segoe UI"/>
              </a:defRPr>
            </a:pPr>
            <a:r>
              <a:t>▸  Every user gets an instant LUD-16 Lightning Address (name@bitfriend.me).</a:t>
            </a:r>
          </a:p>
          <a:p>
            <a:pPr>
              <a:spcAft>
                <a:spcPts val="600"/>
              </a:spcAft>
              <a:defRPr sz="1250">
                <a:solidFill>
                  <a:srgbClr val="D1D5DB"/>
                </a:solidFill>
                <a:latin typeface="Segoe UI"/>
              </a:defRPr>
            </a:pPr>
            <a:r>
              <a:t>▸  Full BOLT-11 invoice generation &amp; SHA-256 preimage verification.</a:t>
            </a:r>
          </a:p>
          <a:p>
            <a:pPr>
              <a:spcAft>
                <a:spcPts val="600"/>
              </a:spcAft>
              <a:defRPr sz="1250">
                <a:solidFill>
                  <a:srgbClr val="D1D5DB"/>
                </a:solidFill>
                <a:latin typeface="Segoe UI"/>
              </a:defRPr>
            </a:pPr>
            <a:r>
              <a:t>▸  NUT-04 Mint &amp; NUT-05 Melt quotes bridge Lightning directly into Ecash proofs.</a:t>
            </a:r>
          </a:p>
          <a:p>
            <a:pPr>
              <a:spcAft>
                <a:spcPts val="600"/>
              </a:spcAft>
              <a:defRPr sz="1250">
                <a:solidFill>
                  <a:srgbClr val="D1D5DB"/>
                </a:solidFill>
                <a:latin typeface="Segoe UI"/>
              </a:defRPr>
            </a:pPr>
            <a:r>
              <a:t>▸  Real-time WebSocket push notifications settle invoices on screen in &lt;1 second.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46720" y="1783080"/>
            <a:ext cx="3474720" cy="4206240"/>
          </a:xfrm>
          <a:prstGeom prst="roundRect">
            <a:avLst/>
          </a:prstGeom>
          <a:solidFill>
            <a:srgbClr val="11161F"/>
          </a:solidFill>
          <a:ln w="15240">
            <a:solidFill>
              <a:srgbClr val="2832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229600" y="1947672"/>
            <a:ext cx="502920" cy="54864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058400" y="1892807"/>
            <a:ext cx="12801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50" b="1">
                <a:solidFill>
                  <a:srgbClr val="3B82F6"/>
                </a:solidFill>
                <a:latin typeface="Consolas"/>
              </a:defRPr>
            </a:pPr>
            <a:r>
              <a:t>LOCAL FIAT RAIL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0" y="2075688"/>
            <a:ext cx="3108960" cy="3794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F9FAFB"/>
                </a:solidFill>
                <a:latin typeface="Segoe UI"/>
              </a:defRPr>
            </a:pPr>
            <a:r>
              <a:t>Rail 3: Nigerian Bank NIP Bridge</a:t>
            </a:r>
          </a:p>
          <a:p>
            <a:pPr>
              <a:spcAft>
                <a:spcPts val="600"/>
              </a:spcAft>
              <a:defRPr sz="1250">
                <a:solidFill>
                  <a:srgbClr val="D1D5DB"/>
                </a:solidFill>
                <a:latin typeface="Segoe UI"/>
              </a:defRPr>
            </a:pPr>
            <a:r>
              <a:t>▸  Instant conversion from Satoshis to Nigerian Naira (₦) at live market rates.</a:t>
            </a:r>
          </a:p>
          <a:p>
            <a:pPr>
              <a:spcAft>
                <a:spcPts val="600"/>
              </a:spcAft>
              <a:defRPr sz="1250">
                <a:solidFill>
                  <a:srgbClr val="D1D5DB"/>
                </a:solidFill>
                <a:latin typeface="Segoe UI"/>
              </a:defRPr>
            </a:pPr>
            <a:r>
              <a:t>▸  Automated 10-digit CBN NUBAN checksum &amp; bank account name verification.</a:t>
            </a:r>
          </a:p>
          <a:p>
            <a:pPr>
              <a:spcAft>
                <a:spcPts val="600"/>
              </a:spcAft>
              <a:defRPr sz="1250">
                <a:solidFill>
                  <a:srgbClr val="D1D5DB"/>
                </a:solidFill>
                <a:latin typeface="Segoe UI"/>
              </a:defRPr>
            </a:pPr>
            <a:r>
              <a:t>▸  Supports OPay, Moniepoint, PalmPay, GTBank, Access, Zenith, Kuda &amp; UBA.</a:t>
            </a:r>
          </a:p>
          <a:p>
            <a:pPr>
              <a:spcAft>
                <a:spcPts val="600"/>
              </a:spcAft>
              <a:defRPr sz="1250">
                <a:solidFill>
                  <a:srgbClr val="D1D5DB"/>
                </a:solidFill>
                <a:latin typeface="Segoe UI"/>
              </a:defRPr>
            </a:pPr>
            <a:r>
              <a:t>▸  Atomic SQLite debit with automatic rollback if external fiat gateway fails.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6355080"/>
            <a:ext cx="108813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CA3AF"/>
                </a:solidFill>
                <a:latin typeface="Segoe UI"/>
              </a:defRPr>
            </a:pPr>
            <a:r>
              <a:t>BitFriend (BitAboki)  •  Sovereign Cashu Ecash, Lightning L2 &amp; African Banking Super-App          Slide 3 / 12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C1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F793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40080" y="411480"/>
            <a:ext cx="2560320" cy="329184"/>
          </a:xfrm>
          <a:prstGeom prst="roundRect">
            <a:avLst/>
          </a:prstGeom>
          <a:solidFill>
            <a:srgbClr val="181F2C"/>
          </a:solidFill>
          <a:ln w="12700">
            <a:solidFill>
              <a:srgbClr val="F793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000" b="1">
                <a:solidFill>
                  <a:srgbClr val="F7931A"/>
                </a:solidFill>
                <a:latin typeface="Segoe UI"/>
              </a:defRPr>
            </a:pPr>
            <a:r>
              <a:t>03 • SOVEREIGN IDENTITY &amp; SECURITY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22960"/>
            <a:ext cx="108813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F9FAFB"/>
                </a:solidFill>
                <a:latin typeface="Segoe UI"/>
              </a:defRPr>
            </a:pPr>
            <a:r>
              <a:t>Zero-Custody BIP-39 Seed Vault &amp; Passwordless Schnorr Authentication</a:t>
            </a:r>
          </a:p>
          <a:p>
            <a:pPr>
              <a:spcBef>
                <a:spcPts val="400"/>
              </a:spcBef>
              <a:defRPr sz="1400">
                <a:solidFill>
                  <a:srgbClr val="9CA3AF"/>
                </a:solidFill>
                <a:latin typeface="Segoe UI"/>
              </a:defRPr>
            </a:pPr>
            <a:r>
              <a:t>No emails, no passwords to leak, and no fake demo accounts — every user owns their cryptographic keys.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783080"/>
            <a:ext cx="5303520" cy="4206240"/>
          </a:xfrm>
          <a:prstGeom prst="roundRect">
            <a:avLst/>
          </a:prstGeom>
          <a:solidFill>
            <a:srgbClr val="11161F"/>
          </a:solidFill>
          <a:ln w="15240">
            <a:solidFill>
              <a:srgbClr val="2832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22959" y="1947672"/>
            <a:ext cx="502920" cy="54864"/>
          </a:xfrm>
          <a:prstGeom prst="rect">
            <a:avLst/>
          </a:prstGeom>
          <a:solidFill>
            <a:srgbClr val="F793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480560" y="1892807"/>
            <a:ext cx="12801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50" b="1">
                <a:solidFill>
                  <a:srgbClr val="F7931A"/>
                </a:solidFill>
                <a:latin typeface="Consolas"/>
              </a:defRPr>
            </a:pPr>
            <a:r>
              <a:t>BIP-39 + NUT-13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59" y="2075688"/>
            <a:ext cx="4937759" cy="3794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F9FAFB"/>
                </a:solidFill>
                <a:latin typeface="Segoe UI"/>
              </a:defRPr>
            </a:pPr>
            <a:r>
              <a:t>Client-Side Key Derivation &amp; Encryption</a:t>
            </a:r>
          </a:p>
          <a:p>
            <a:pPr>
              <a:spcAft>
                <a:spcPts val="600"/>
              </a:spcAft>
              <a:defRPr sz="1250">
                <a:solidFill>
                  <a:srgbClr val="D1D5DB"/>
                </a:solidFill>
                <a:latin typeface="Segoe UI"/>
              </a:defRPr>
            </a:pPr>
            <a:r>
              <a:t>▸  12-Word BIP-39 Seed Phrase generated locally using WebCrypto CSPRNG.</a:t>
            </a:r>
          </a:p>
          <a:p>
            <a:pPr>
              <a:spcAft>
                <a:spcPts val="600"/>
              </a:spcAft>
              <a:defRPr sz="1250">
                <a:solidFill>
                  <a:srgbClr val="D1D5DB"/>
                </a:solidFill>
                <a:latin typeface="Segoe UI"/>
              </a:defRPr>
            </a:pPr>
            <a:r>
              <a:t>▸  PBKDF2-HMAC-SHA512 (2048 rounds) derives the master 512-bit seed.</a:t>
            </a:r>
          </a:p>
          <a:p>
            <a:pPr>
              <a:spcAft>
                <a:spcPts val="600"/>
              </a:spcAft>
              <a:defRPr sz="1250">
                <a:solidFill>
                  <a:srgbClr val="D1D5DB"/>
                </a:solidFill>
                <a:latin typeface="Segoe UI"/>
              </a:defRPr>
            </a:pPr>
            <a:r>
              <a:t>▸  Deterministic secp256k1 keypair (33-byte compressed pubkey + 32-byte x-only pubkey).</a:t>
            </a:r>
          </a:p>
          <a:p>
            <a:pPr>
              <a:spcAft>
                <a:spcPts val="600"/>
              </a:spcAft>
              <a:defRPr sz="1250">
                <a:solidFill>
                  <a:srgbClr val="D1D5DB"/>
                </a:solidFill>
                <a:latin typeface="Segoe UI"/>
              </a:defRPr>
            </a:pPr>
            <a:r>
              <a:t>▸  NUT-13 deterministic counter derivation allows full Ecash recovery from the 12 words.</a:t>
            </a:r>
          </a:p>
          <a:p>
            <a:pPr>
              <a:spcAft>
                <a:spcPts val="600"/>
              </a:spcAft>
              <a:defRPr sz="1250">
                <a:solidFill>
                  <a:srgbClr val="D1D5DB"/>
                </a:solidFill>
                <a:latin typeface="Segoe UI"/>
              </a:defRPr>
            </a:pPr>
            <a:r>
              <a:t>▸  Local IndexedDB vault encrypted at rest via AES-256-GCM + 6-digit Master PIN.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783080"/>
            <a:ext cx="5303520" cy="4206240"/>
          </a:xfrm>
          <a:prstGeom prst="roundRect">
            <a:avLst/>
          </a:prstGeom>
          <a:solidFill>
            <a:srgbClr val="11161F"/>
          </a:solidFill>
          <a:ln w="15240">
            <a:solidFill>
              <a:srgbClr val="2832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400800" y="1947672"/>
            <a:ext cx="502920" cy="54864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0" y="1892807"/>
            <a:ext cx="12801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50" b="1">
                <a:solidFill>
                  <a:srgbClr val="10B981"/>
                </a:solidFill>
                <a:latin typeface="Consolas"/>
              </a:defRPr>
            </a:pPr>
            <a:r>
              <a:t>BIP-340 SCHNORR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2075688"/>
            <a:ext cx="4937759" cy="3794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F9FAFB"/>
                </a:solidFill>
                <a:latin typeface="Segoe UI"/>
              </a:defRPr>
            </a:pPr>
            <a:r>
              <a:t>Passwordless BIP-340 Schnorr Handshake</a:t>
            </a:r>
          </a:p>
          <a:p>
            <a:pPr>
              <a:spcAft>
                <a:spcPts val="600"/>
              </a:spcAft>
              <a:defRPr sz="1250">
                <a:solidFill>
                  <a:srgbClr val="D1D5DB"/>
                </a:solidFill>
                <a:latin typeface="Segoe UI"/>
              </a:defRPr>
            </a:pPr>
            <a:r>
              <a:t>▸  Step 1: Client requests a single-use 32-byte challenge nonce (POST /api/v1/auth/challenge).</a:t>
            </a:r>
          </a:p>
          <a:p>
            <a:pPr>
              <a:spcAft>
                <a:spcPts val="600"/>
              </a:spcAft>
              <a:defRPr sz="1250">
                <a:solidFill>
                  <a:srgbClr val="D1D5DB"/>
                </a:solidFill>
                <a:latin typeface="Segoe UI"/>
              </a:defRPr>
            </a:pPr>
            <a:r>
              <a:t>▸  Step 2: Device signs SHA-256(nonce) locally using @noble/curves/secp256k1 Schnorr.</a:t>
            </a:r>
          </a:p>
          <a:p>
            <a:pPr>
              <a:spcAft>
                <a:spcPts val="600"/>
              </a:spcAft>
              <a:defRPr sz="1250">
                <a:solidFill>
                  <a:srgbClr val="D1D5DB"/>
                </a:solidFill>
                <a:latin typeface="Segoe UI"/>
              </a:defRPr>
            </a:pPr>
            <a:r>
              <a:t>▸  Step 3: Server verifies schnorr.verify(sig, msgHash, xOnlyPubkey) in authService.ts.</a:t>
            </a:r>
          </a:p>
          <a:p>
            <a:pPr>
              <a:spcAft>
                <a:spcPts val="600"/>
              </a:spcAft>
              <a:defRPr sz="1250">
                <a:solidFill>
                  <a:srgbClr val="D1D5DB"/>
                </a:solidFill>
                <a:latin typeface="Segoe UI"/>
              </a:defRPr>
            </a:pPr>
            <a:r>
              <a:t>▸  Step 4: Server issues a 7-day bearer session token stored in SQLite auth_sessions.</a:t>
            </a:r>
          </a:p>
          <a:p>
            <a:pPr>
              <a:spcAft>
                <a:spcPts val="600"/>
              </a:spcAft>
              <a:defRPr sz="1250">
                <a:solidFill>
                  <a:srgbClr val="D1D5DB"/>
                </a:solidFill>
                <a:latin typeface="Segoe UI"/>
              </a:defRPr>
            </a:pPr>
            <a:r>
              <a:t>▸  Result: Even if the backend DB is compromised, user private keys never leave the phone.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6355080"/>
            <a:ext cx="108813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CA3AF"/>
                </a:solidFill>
                <a:latin typeface="Segoe UI"/>
              </a:defRPr>
            </a:pPr>
            <a:r>
              <a:t>BitFriend (BitAboki)  •  Sovereign Cashu Ecash, Lightning L2 &amp; African Banking Super-App          Slide 4 / 12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C1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F793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40080" y="411480"/>
            <a:ext cx="2560320" cy="329184"/>
          </a:xfrm>
          <a:prstGeom prst="roundRect">
            <a:avLst/>
          </a:prstGeom>
          <a:solidFill>
            <a:srgbClr val="181F2C"/>
          </a:solidFill>
          <a:ln w="12700">
            <a:solidFill>
              <a:srgbClr val="F793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000" b="1">
                <a:solidFill>
                  <a:srgbClr val="F7931A"/>
                </a:solidFill>
                <a:latin typeface="Segoe UI"/>
              </a:defRPr>
            </a:pPr>
            <a:r>
              <a:t>04 • CRYPTOGRAPHIC CORE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22960"/>
            <a:ext cx="108813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F9FAFB"/>
                </a:solidFill>
                <a:latin typeface="Segoe UI"/>
              </a:defRPr>
            </a:pPr>
            <a:r>
              <a:t>Real secp256k1 Blind Diffie-Hellman (BDHKE) Cashu Mint Engine</a:t>
            </a:r>
          </a:p>
          <a:p>
            <a:pPr>
              <a:spcBef>
                <a:spcPts val="400"/>
              </a:spcBef>
              <a:defRPr sz="1400">
                <a:solidFill>
                  <a:srgbClr val="9CA3AF"/>
                </a:solidFill>
                <a:latin typeface="Segoe UI"/>
              </a:defRPr>
            </a:pPr>
            <a:r>
              <a:t>True Chaumian blind signatures ensure privacy while mathematically preventing forgery and double-spending.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783080"/>
            <a:ext cx="2606040" cy="2148840"/>
          </a:xfrm>
          <a:prstGeom prst="roundRect">
            <a:avLst/>
          </a:prstGeom>
          <a:solidFill>
            <a:srgbClr val="11161F"/>
          </a:solidFill>
          <a:ln w="15240">
            <a:solidFill>
              <a:srgbClr val="2832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22959" y="1947672"/>
            <a:ext cx="502920" cy="54864"/>
          </a:xfrm>
          <a:prstGeom prst="rect">
            <a:avLst/>
          </a:prstGeom>
          <a:solidFill>
            <a:srgbClr val="F793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783079" y="1892807"/>
            <a:ext cx="12801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50" b="1">
                <a:solidFill>
                  <a:srgbClr val="F7931A"/>
                </a:solidFill>
                <a:latin typeface="Consolas"/>
              </a:defRPr>
            </a:pPr>
            <a:r>
              <a:t>STEP 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59" y="2075688"/>
            <a:ext cx="224028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F9FAFB"/>
                </a:solidFill>
                <a:latin typeface="Segoe UI"/>
              </a:defRPr>
            </a:pPr>
            <a:r>
              <a:t>1. Hash-to-Curve</a:t>
            </a:r>
          </a:p>
          <a:p>
            <a:pPr>
              <a:spcAft>
                <a:spcPts val="600"/>
              </a:spcAft>
              <a:defRPr sz="1250">
                <a:solidFill>
                  <a:srgbClr val="D1D5DB"/>
                </a:solidFill>
                <a:latin typeface="Segoe UI"/>
              </a:defRPr>
            </a:pPr>
            <a:r>
              <a:t>▸  Client maps secret x to curve point Y = hash_to_curve(x) using domain separator 0x5f00.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01568" y="1783080"/>
            <a:ext cx="2606040" cy="2148840"/>
          </a:xfrm>
          <a:prstGeom prst="roundRect">
            <a:avLst/>
          </a:prstGeom>
          <a:solidFill>
            <a:srgbClr val="11161F"/>
          </a:solidFill>
          <a:ln w="15240">
            <a:solidFill>
              <a:srgbClr val="2832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584448" y="1947672"/>
            <a:ext cx="502920" cy="54864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44568" y="1892807"/>
            <a:ext cx="12801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50" b="1">
                <a:solidFill>
                  <a:srgbClr val="3B82F6"/>
                </a:solidFill>
                <a:latin typeface="Consolas"/>
              </a:defRPr>
            </a:pPr>
            <a:r>
              <a:t>STEP 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84448" y="2075688"/>
            <a:ext cx="224028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F9FAFB"/>
                </a:solidFill>
                <a:latin typeface="Segoe UI"/>
              </a:defRPr>
            </a:pPr>
            <a:r>
              <a:t>2. Client Blinding</a:t>
            </a:r>
          </a:p>
          <a:p>
            <a:pPr>
              <a:spcAft>
                <a:spcPts val="600"/>
              </a:spcAft>
              <a:defRPr sz="1250">
                <a:solidFill>
                  <a:srgbClr val="D1D5DB"/>
                </a:solidFill>
                <a:latin typeface="Segoe UI"/>
              </a:defRPr>
            </a:pPr>
            <a:r>
              <a:t>▸  Client picks random scalar r and blinds point: B' = Y + r·G, sending B' to Mint.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63056" y="1783080"/>
            <a:ext cx="2606040" cy="2148840"/>
          </a:xfrm>
          <a:prstGeom prst="roundRect">
            <a:avLst/>
          </a:prstGeom>
          <a:solidFill>
            <a:srgbClr val="11161F"/>
          </a:solidFill>
          <a:ln w="15240">
            <a:solidFill>
              <a:srgbClr val="2832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345936" y="1947672"/>
            <a:ext cx="502920" cy="54864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06056" y="1892807"/>
            <a:ext cx="12801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50" b="1">
                <a:solidFill>
                  <a:srgbClr val="10B981"/>
                </a:solidFill>
                <a:latin typeface="Consolas"/>
              </a:defRPr>
            </a:pPr>
            <a:r>
              <a:t>STEP 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45936" y="2075688"/>
            <a:ext cx="224028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F9FAFB"/>
                </a:solidFill>
                <a:latin typeface="Segoe UI"/>
              </a:defRPr>
            </a:pPr>
            <a:r>
              <a:t>3. Mint Blind Sign</a:t>
            </a:r>
          </a:p>
          <a:p>
            <a:pPr>
              <a:spcAft>
                <a:spcPts val="600"/>
              </a:spcAft>
              <a:defRPr sz="1250">
                <a:solidFill>
                  <a:srgbClr val="D1D5DB"/>
                </a:solidFill>
                <a:latin typeface="Segoe UI"/>
              </a:defRPr>
            </a:pPr>
            <a:r>
              <a:t>▸  Mint multiplies by denomination private key k_amt: C' = k_amt · B' without seeing x.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924544" y="1783080"/>
            <a:ext cx="2606040" cy="2148840"/>
          </a:xfrm>
          <a:prstGeom prst="roundRect">
            <a:avLst/>
          </a:prstGeom>
          <a:solidFill>
            <a:srgbClr val="11161F"/>
          </a:solidFill>
          <a:ln w="15240">
            <a:solidFill>
              <a:srgbClr val="2832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9107424" y="1947672"/>
            <a:ext cx="502920" cy="54864"/>
          </a:xfrm>
          <a:prstGeom prst="rect">
            <a:avLst/>
          </a:prstGeom>
          <a:solidFill>
            <a:srgbClr val="F793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067544" y="1892807"/>
            <a:ext cx="12801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50" b="1">
                <a:solidFill>
                  <a:srgbClr val="F7931A"/>
                </a:solidFill>
                <a:latin typeface="Consolas"/>
              </a:defRPr>
            </a:pPr>
            <a:r>
              <a:t>STEP 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07424" y="2075688"/>
            <a:ext cx="224028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F9FAFB"/>
                </a:solidFill>
                <a:latin typeface="Segoe UI"/>
              </a:defRPr>
            </a:pPr>
            <a:r>
              <a:t>4. Unblind &amp; Verify</a:t>
            </a:r>
          </a:p>
          <a:p>
            <a:pPr>
              <a:spcAft>
                <a:spcPts val="600"/>
              </a:spcAft>
              <a:defRPr sz="1250">
                <a:solidFill>
                  <a:srgbClr val="D1D5DB"/>
                </a:solidFill>
                <a:latin typeface="Segoe UI"/>
              </a:defRPr>
            </a:pPr>
            <a:r>
              <a:t>▸  Client removes blinding factor: C = C' - r·K. Anyone can verify C == k_amt · Y!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4160520"/>
            <a:ext cx="10881360" cy="1874519"/>
          </a:xfrm>
          <a:prstGeom prst="roundRect">
            <a:avLst/>
          </a:prstGeom>
          <a:solidFill>
            <a:srgbClr val="11161F"/>
          </a:solidFill>
          <a:ln w="15240">
            <a:solidFill>
              <a:srgbClr val="2832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22959" y="4325112"/>
            <a:ext cx="502920" cy="54864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058400" y="4270248"/>
            <a:ext cx="12801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50" b="1">
                <a:solidFill>
                  <a:srgbClr val="10B981"/>
                </a:solidFill>
                <a:latin typeface="Consolas"/>
              </a:defRPr>
            </a:pPr>
            <a:r>
              <a:t>ACID GUARANTEED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2959" y="4453128"/>
            <a:ext cx="10515600" cy="1463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F9FAFB"/>
                </a:solidFill>
                <a:latin typeface="Segoe UI"/>
              </a:defRPr>
            </a:pPr>
            <a:r>
              <a:t>NUT-03 Atomic Swap &amp; SQLite Double-Spend Protection (cashuProofService.ts)</a:t>
            </a:r>
          </a:p>
          <a:p>
            <a:pPr>
              <a:spcAft>
                <a:spcPts val="600"/>
              </a:spcAft>
              <a:defRPr sz="1250">
                <a:solidFill>
                  <a:srgbClr val="D1D5DB"/>
                </a:solidFill>
                <a:latin typeface="Segoe UI"/>
              </a:defRPr>
            </a:pPr>
            <a:r>
              <a:t>▸  Every power-of-2 denomination (1, 2, 4, 8 ... 16,384 sats) has its own deterministic secp256k1 keypair in Keyset bf_keyset_01.</a:t>
            </a:r>
          </a:p>
          <a:p>
            <a:pPr>
              <a:spcAft>
                <a:spcPts val="600"/>
              </a:spcAft>
              <a:defRPr sz="1250">
                <a:solidFill>
                  <a:srgbClr val="D1D5DB"/>
                </a:solidFill>
                <a:latin typeface="Segoe UI"/>
              </a:defRPr>
            </a:pPr>
            <a:r>
              <a:t>▸  When a user claims a cashuA... voucher, SQLite begins an atomic transaction, verifies C == k·hash_to_curve(secret) for every proof, checks spent_secrets, burns the old secrets, and issues freshly signed proofs so the sender can never claw back funds.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" y="6355080"/>
            <a:ext cx="108813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CA3AF"/>
                </a:solidFill>
                <a:latin typeface="Segoe UI"/>
              </a:defRPr>
            </a:pPr>
            <a:r>
              <a:t>BitFriend (BitAboki)  •  Sovereign Cashu Ecash, Lightning L2 &amp; African Banking Super-App          Slide 5 / 12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C1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F793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40080" y="411480"/>
            <a:ext cx="2560320" cy="329184"/>
          </a:xfrm>
          <a:prstGeom prst="roundRect">
            <a:avLst/>
          </a:prstGeom>
          <a:solidFill>
            <a:srgbClr val="181F2C"/>
          </a:solidFill>
          <a:ln w="12700">
            <a:solidFill>
              <a:srgbClr val="F793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000" b="1">
                <a:solidFill>
                  <a:srgbClr val="F7931A"/>
                </a:solidFill>
                <a:latin typeface="Segoe UI"/>
              </a:defRPr>
            </a:pPr>
            <a:r>
              <a:t>05 • INSTANT SETTLEMENT &amp; SOCIAL COMMERCE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22960"/>
            <a:ext cx="108813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F9FAFB"/>
                </a:solidFill>
                <a:latin typeface="Segoe UI"/>
              </a:defRPr>
            </a:pPr>
            <a:r>
              <a:t>LUD-16 Lightning Addresses &amp; BitChat P2P Ecash Messenger</a:t>
            </a:r>
          </a:p>
          <a:p>
            <a:pPr>
              <a:spcBef>
                <a:spcPts val="400"/>
              </a:spcBef>
              <a:defRPr sz="1400">
                <a:solidFill>
                  <a:srgbClr val="9CA3AF"/>
                </a:solidFill>
                <a:latin typeface="Segoe UI"/>
              </a:defRPr>
            </a:pPr>
            <a:r>
              <a:t>Sending Bitcoin is now as simple as sending a WhatsApp message or typing an email address.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783080"/>
            <a:ext cx="5303520" cy="4206240"/>
          </a:xfrm>
          <a:prstGeom prst="roundRect">
            <a:avLst/>
          </a:prstGeom>
          <a:solidFill>
            <a:srgbClr val="11161F"/>
          </a:solidFill>
          <a:ln w="15240">
            <a:solidFill>
              <a:srgbClr val="2832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22959" y="1947672"/>
            <a:ext cx="502920" cy="54864"/>
          </a:xfrm>
          <a:prstGeom prst="rect">
            <a:avLst/>
          </a:prstGeom>
          <a:solidFill>
            <a:srgbClr val="F793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480560" y="1892807"/>
            <a:ext cx="12801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50" b="1">
                <a:solidFill>
                  <a:srgbClr val="F7931A"/>
                </a:solidFill>
                <a:latin typeface="Consolas"/>
              </a:defRPr>
            </a:pPr>
            <a:r>
              <a:t>LUD-16 + BOLT-11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59" y="2075688"/>
            <a:ext cx="4937759" cy="3794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F9FAFB"/>
                </a:solidFill>
                <a:latin typeface="Segoe UI"/>
              </a:defRPr>
            </a:pPr>
            <a:r>
              <a:t>LUD-16 Lightning Server &amp; BOLT-11 Bridge</a:t>
            </a:r>
          </a:p>
          <a:p>
            <a:pPr>
              <a:spcAft>
                <a:spcPts val="600"/>
              </a:spcAft>
              <a:defRPr sz="1250">
                <a:solidFill>
                  <a:srgbClr val="D1D5DB"/>
                </a:solidFill>
                <a:latin typeface="Segoe UI"/>
              </a:defRPr>
            </a:pPr>
            <a:r>
              <a:t>▸  Live endpoint: GET /.well-known/lnurlp/:username resolves any merchant handle.</a:t>
            </a:r>
          </a:p>
          <a:p>
            <a:pPr>
              <a:spcAft>
                <a:spcPts val="600"/>
              </a:spcAft>
              <a:defRPr sz="1250">
                <a:solidFill>
                  <a:srgbClr val="D1D5DB"/>
                </a:solidFill>
                <a:latin typeface="Segoe UI"/>
              </a:defRPr>
            </a:pPr>
            <a:r>
              <a:t>▸  Generates real SHA-256 preimage &amp; payment_hash invoices stored in lightning_invoices.</a:t>
            </a:r>
          </a:p>
          <a:p>
            <a:pPr>
              <a:spcAft>
                <a:spcPts val="600"/>
              </a:spcAft>
              <a:defRPr sz="1250">
                <a:solidFill>
                  <a:srgbClr val="D1D5DB"/>
                </a:solidFill>
                <a:latin typeface="Segoe UI"/>
              </a:defRPr>
            </a:pPr>
            <a:r>
              <a:t>▸  Supports both external LNbits node routing and instant local L2 settlement.</a:t>
            </a:r>
          </a:p>
          <a:p>
            <a:pPr>
              <a:spcAft>
                <a:spcPts val="600"/>
              </a:spcAft>
              <a:defRPr sz="1250">
                <a:solidFill>
                  <a:srgbClr val="D1D5DB"/>
                </a:solidFill>
                <a:latin typeface="Segoe UI"/>
              </a:defRPr>
            </a:pPr>
            <a:r>
              <a:t>▸  Cryptographic preimage verification: sha256(preimage) === payment_hash.</a:t>
            </a:r>
          </a:p>
          <a:p>
            <a:pPr>
              <a:spcAft>
                <a:spcPts val="600"/>
              </a:spcAft>
              <a:defRPr sz="1250">
                <a:solidFill>
                  <a:srgbClr val="D1D5DB"/>
                </a:solidFill>
                <a:latin typeface="Segoe UI"/>
              </a:defRPr>
            </a:pPr>
            <a:r>
              <a:t>▸  Broadcasts real-time INVOICE_SETTLED events over WebSocket to update UI balances.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783080"/>
            <a:ext cx="5303520" cy="4206240"/>
          </a:xfrm>
          <a:prstGeom prst="roundRect">
            <a:avLst/>
          </a:prstGeom>
          <a:solidFill>
            <a:srgbClr val="11161F"/>
          </a:solidFill>
          <a:ln w="15240">
            <a:solidFill>
              <a:srgbClr val="2832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400800" y="1947672"/>
            <a:ext cx="502920" cy="54864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0" y="1892807"/>
            <a:ext cx="12801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50" b="1">
                <a:solidFill>
                  <a:srgbClr val="10B981"/>
                </a:solidFill>
                <a:latin typeface="Consolas"/>
              </a:defRPr>
            </a:pPr>
            <a:r>
              <a:t>SQLITE + WEBSOCKET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2075688"/>
            <a:ext cx="4937759" cy="3794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F9FAFB"/>
                </a:solidFill>
                <a:latin typeface="Segoe UI"/>
              </a:defRPr>
            </a:pPr>
            <a:r>
              <a:t>BitChat: Trade Chat with Inline Cashu Envelopes</a:t>
            </a:r>
          </a:p>
          <a:p>
            <a:pPr>
              <a:spcAft>
                <a:spcPts val="600"/>
              </a:spcAft>
              <a:defRPr sz="1250">
                <a:solidFill>
                  <a:srgbClr val="D1D5DB"/>
                </a:solidFill>
                <a:latin typeface="Segoe UI"/>
              </a:defRPr>
            </a:pPr>
            <a:r>
              <a:t>▸  Built-in encrypted-style messenger persisted in SQLite (chat_conversations, chat_messages).</a:t>
            </a:r>
          </a:p>
          <a:p>
            <a:pPr>
              <a:spcAft>
                <a:spcPts val="600"/>
              </a:spcAft>
              <a:defRPr sz="1250">
                <a:solidFill>
                  <a:srgbClr val="D1D5DB"/>
                </a:solidFill>
                <a:latin typeface="Segoe UI"/>
              </a:defRPr>
            </a:pPr>
            <a:r>
              <a:t>▸  Traders negotiate prices and send interactive Bitcoin Ecash envelopes right inside chat.</a:t>
            </a:r>
          </a:p>
          <a:p>
            <a:pPr>
              <a:spcAft>
                <a:spcPts val="600"/>
              </a:spcAft>
              <a:defRPr sz="1250">
                <a:solidFill>
                  <a:srgbClr val="D1D5DB"/>
                </a:solidFill>
                <a:latin typeface="Segoe UI"/>
              </a:defRPr>
            </a:pPr>
            <a:r>
              <a:t>▸  Tapping 'Claim Ecash' inside a chat bubble triggers a live NUT-03 atomic swap on the mint.</a:t>
            </a:r>
          </a:p>
          <a:p>
            <a:pPr>
              <a:spcAft>
                <a:spcPts val="600"/>
              </a:spcAft>
              <a:defRPr sz="1250">
                <a:solidFill>
                  <a:srgbClr val="D1D5DB"/>
                </a:solidFill>
                <a:latin typeface="Segoe UI"/>
              </a:defRPr>
            </a:pPr>
            <a:r>
              <a:t>▸  WebSocket broadcasts CHAT_MESSAGE and CHAT_TOKEN_CLAIMED across connected devices.</a:t>
            </a:r>
          </a:p>
          <a:p>
            <a:pPr>
              <a:spcAft>
                <a:spcPts val="600"/>
              </a:spcAft>
              <a:defRPr sz="1250">
                <a:solidFill>
                  <a:srgbClr val="D1D5DB"/>
                </a:solidFill>
                <a:latin typeface="Segoe UI"/>
              </a:defRPr>
            </a:pPr>
            <a:r>
              <a:t>▸  Works seamlessly for remote supplier settlements across Kano, Lagos, and Abuja.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6355080"/>
            <a:ext cx="108813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CA3AF"/>
                </a:solidFill>
                <a:latin typeface="Segoe UI"/>
              </a:defRPr>
            </a:pPr>
            <a:r>
              <a:t>BitFriend (BitAboki)  •  Sovereign Cashu Ecash, Lightning L2 &amp; African Banking Super-App          Slide 6 / 12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C1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F793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40080" y="411480"/>
            <a:ext cx="2560320" cy="329184"/>
          </a:xfrm>
          <a:prstGeom prst="roundRect">
            <a:avLst/>
          </a:prstGeom>
          <a:solidFill>
            <a:srgbClr val="181F2C"/>
          </a:solidFill>
          <a:ln w="12700">
            <a:solidFill>
              <a:srgbClr val="F793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000" b="1">
                <a:solidFill>
                  <a:srgbClr val="F7931A"/>
                </a:solidFill>
                <a:latin typeface="Segoe UI"/>
              </a:defRPr>
            </a:pPr>
            <a:r>
              <a:t>06 • MERCHANT TOOLS &amp; COMMUNITY FINANCE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22960"/>
            <a:ext cx="108813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F9FAFB"/>
                </a:solidFill>
                <a:latin typeface="Segoe UI"/>
              </a:defRPr>
            </a:pPr>
            <a:r>
              <a:t>Smart POS Inventory Terminal &amp; Adashi (ROSCA) Savings Circles</a:t>
            </a:r>
          </a:p>
          <a:p>
            <a:pPr>
              <a:spcBef>
                <a:spcPts val="400"/>
              </a:spcBef>
              <a:defRPr sz="1400">
                <a:solidFill>
                  <a:srgbClr val="9CA3AF"/>
                </a:solidFill>
                <a:latin typeface="Segoe UI"/>
              </a:defRPr>
            </a:pPr>
            <a:r>
              <a:t>Purpose-built for African market realities: bilingual voice receipts, stock tracking, and automated group thrift.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783080"/>
            <a:ext cx="5303520" cy="4206240"/>
          </a:xfrm>
          <a:prstGeom prst="roundRect">
            <a:avLst/>
          </a:prstGeom>
          <a:solidFill>
            <a:srgbClr val="11161F"/>
          </a:solidFill>
          <a:ln w="15240">
            <a:solidFill>
              <a:srgbClr val="2832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22959" y="1947672"/>
            <a:ext cx="502920" cy="54864"/>
          </a:xfrm>
          <a:prstGeom prst="rect">
            <a:avLst/>
          </a:prstGeom>
          <a:solidFill>
            <a:srgbClr val="F793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480560" y="1892807"/>
            <a:ext cx="12801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50" b="1">
                <a:solidFill>
                  <a:srgbClr val="F7931A"/>
                </a:solidFill>
                <a:latin typeface="Consolas"/>
              </a:defRPr>
            </a:pPr>
            <a:r>
              <a:t>MERCHANT POS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59" y="2075688"/>
            <a:ext cx="4937759" cy="3794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F9FAFB"/>
                </a:solidFill>
                <a:latin typeface="Segoe UI"/>
              </a:defRPr>
            </a:pPr>
            <a:r>
              <a:t>Merchant POS with Live Stock Deduction</a:t>
            </a:r>
          </a:p>
          <a:p>
            <a:pPr>
              <a:spcAft>
                <a:spcPts val="600"/>
              </a:spcAft>
              <a:defRPr sz="1250">
                <a:solidFill>
                  <a:srgbClr val="D1D5DB"/>
                </a:solidFill>
                <a:latin typeface="Segoe UI"/>
              </a:defRPr>
            </a:pPr>
            <a:r>
              <a:t>▸  Full product catalog stored in SQLite (pos_products) with real-time stock_count badges.</a:t>
            </a:r>
          </a:p>
          <a:p>
            <a:pPr>
              <a:spcAft>
                <a:spcPts val="600"/>
              </a:spcAft>
              <a:defRPr sz="1250">
                <a:solidFill>
                  <a:srgbClr val="D1D5DB"/>
                </a:solidFill>
                <a:latin typeface="Segoe UI"/>
              </a:defRPr>
            </a:pPr>
            <a:r>
              <a:t>▸  Tactile Naira keypad automatically calculates exact Satoshis at live market FX rates.</a:t>
            </a:r>
          </a:p>
          <a:p>
            <a:pPr>
              <a:spcAft>
                <a:spcPts val="600"/>
              </a:spcAft>
              <a:defRPr sz="1250">
                <a:solidFill>
                  <a:srgbClr val="D1D5DB"/>
                </a:solidFill>
                <a:latin typeface="Segoe UI"/>
              </a:defRPr>
            </a:pPr>
            <a:r>
              <a:t>▸  Accepts QR Voucher scans, WebNFC tap-to-pay, or instant counter confirmation.</a:t>
            </a:r>
          </a:p>
          <a:p>
            <a:pPr>
              <a:spcAft>
                <a:spcPts val="600"/>
              </a:spcAft>
              <a:defRPr sz="1250">
                <a:solidFill>
                  <a:srgbClr val="D1D5DB"/>
                </a:solidFill>
                <a:latin typeface="Segoe UI"/>
              </a:defRPr>
            </a:pPr>
            <a:r>
              <a:t>▸  Every checkout atomically decrements product inventory (MAX(0, stock_count - 1)).</a:t>
            </a:r>
          </a:p>
          <a:p>
            <a:pPr>
              <a:spcAft>
                <a:spcPts val="600"/>
              </a:spcAft>
              <a:defRPr sz="1250">
                <a:solidFill>
                  <a:srgbClr val="D1D5DB"/>
                </a:solidFill>
                <a:latin typeface="Segoe UI"/>
              </a:defRPr>
            </a:pPr>
            <a:r>
              <a:t>▸  Bilingual Voice Receipts (English &amp; Hausa) announce payments aloud for busy stall owners.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783080"/>
            <a:ext cx="5303520" cy="4206240"/>
          </a:xfrm>
          <a:prstGeom prst="roundRect">
            <a:avLst/>
          </a:prstGeom>
          <a:solidFill>
            <a:srgbClr val="11161F"/>
          </a:solidFill>
          <a:ln w="15240">
            <a:solidFill>
              <a:srgbClr val="2832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400800" y="1947672"/>
            <a:ext cx="502920" cy="54864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0" y="1892807"/>
            <a:ext cx="12801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50" b="1">
                <a:solidFill>
                  <a:srgbClr val="10B981"/>
                </a:solidFill>
                <a:latin typeface="Consolas"/>
              </a:defRPr>
            </a:pPr>
            <a:r>
              <a:t>AUTO-ESCROW ROSCA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2075688"/>
            <a:ext cx="4937759" cy="3794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F9FAFB"/>
                </a:solidFill>
                <a:latin typeface="Segoe UI"/>
              </a:defRPr>
            </a:pPr>
            <a:r>
              <a:t>Adashi: Programmable Rotating Savings Circles</a:t>
            </a:r>
          </a:p>
          <a:p>
            <a:pPr>
              <a:spcAft>
                <a:spcPts val="600"/>
              </a:spcAft>
              <a:defRPr sz="1250">
                <a:solidFill>
                  <a:srgbClr val="D1D5DB"/>
                </a:solidFill>
                <a:latin typeface="Segoe UI"/>
              </a:defRPr>
            </a:pPr>
            <a:r>
              <a:t>▸  Digitizes traditional West African Adashi / Esusu / Ajo cooperative savings pools.</a:t>
            </a:r>
          </a:p>
          <a:p>
            <a:pPr>
              <a:spcAft>
                <a:spcPts val="600"/>
              </a:spcAft>
              <a:defRPr sz="1250">
                <a:solidFill>
                  <a:srgbClr val="D1D5DB"/>
                </a:solidFill>
                <a:latin typeface="Segoe UI"/>
              </a:defRPr>
            </a:pPr>
            <a:r>
              <a:t>▸  Members lock weekly or monthly Satoshi contributions into SQLite escrow (adashi_contributions).</a:t>
            </a:r>
          </a:p>
          <a:p>
            <a:pPr>
              <a:spcAft>
                <a:spcPts val="600"/>
              </a:spcAft>
              <a:defRPr sz="1250">
                <a:solidFill>
                  <a:srgbClr val="D1D5DB"/>
                </a:solidFill>
                <a:latin typeface="Segoe UI"/>
              </a:defRPr>
            </a:pPr>
            <a:r>
              <a:t>▸  Eliminates treasurer fraud: rules and payout turn order are enforced by the backend ledger.</a:t>
            </a:r>
          </a:p>
          <a:p>
            <a:pPr>
              <a:spcAft>
                <a:spcPts val="600"/>
              </a:spcAft>
              <a:defRPr sz="1250">
                <a:solidFill>
                  <a:srgbClr val="D1D5DB"/>
                </a:solidFill>
                <a:latin typeface="Segoe UI"/>
              </a:defRPr>
            </a:pPr>
            <a:r>
              <a:t>▸  Auto-Disbursement Engine: As soon as all members pay for Round N, the full pot automatically credits the designated recipient's wallet and advances to Round N+1!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6355080"/>
            <a:ext cx="108813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CA3AF"/>
                </a:solidFill>
                <a:latin typeface="Segoe UI"/>
              </a:defRPr>
            </a:pPr>
            <a:r>
              <a:t>BitFriend (BitAboki)  •  Sovereign Cashu Ecash, Lightning L2 &amp; African Banking Super-App          Slide 7 / 12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C1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F793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40080" y="411480"/>
            <a:ext cx="2560320" cy="329184"/>
          </a:xfrm>
          <a:prstGeom prst="roundRect">
            <a:avLst/>
          </a:prstGeom>
          <a:solidFill>
            <a:srgbClr val="181F2C"/>
          </a:solidFill>
          <a:ln w="12700">
            <a:solidFill>
              <a:srgbClr val="F793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000" b="1">
                <a:solidFill>
                  <a:srgbClr val="F7931A"/>
                </a:solidFill>
                <a:latin typeface="Segoe UI"/>
              </a:defRPr>
            </a:pPr>
            <a:r>
              <a:t>07 • LAST-MILE FIAT LIQUIDITY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22960"/>
            <a:ext cx="108813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F9FAFB"/>
                </a:solidFill>
                <a:latin typeface="Segoe UI"/>
              </a:defRPr>
            </a:pPr>
            <a:r>
              <a:t>Instant Nigerian Bank Verification &amp; Atomic Naira (₦) Settlement</a:t>
            </a:r>
          </a:p>
          <a:p>
            <a:pPr>
              <a:spcBef>
                <a:spcPts val="400"/>
              </a:spcBef>
              <a:defRPr sz="1400">
                <a:solidFill>
                  <a:srgbClr val="9CA3AF"/>
                </a:solidFill>
                <a:latin typeface="Segoe UI"/>
              </a:defRPr>
            </a:pPr>
            <a:r>
              <a:t>Merchants can hold inflation-resistant Bitcoin and cash out to their local bank account in seconds.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783080"/>
            <a:ext cx="5303520" cy="4206240"/>
          </a:xfrm>
          <a:prstGeom prst="roundRect">
            <a:avLst/>
          </a:prstGeom>
          <a:solidFill>
            <a:srgbClr val="11161F"/>
          </a:solidFill>
          <a:ln w="15240">
            <a:solidFill>
              <a:srgbClr val="2832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22959" y="1947672"/>
            <a:ext cx="502920" cy="54864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480560" y="1892807"/>
            <a:ext cx="12801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50" b="1">
                <a:solidFill>
                  <a:srgbClr val="3B82F6"/>
                </a:solidFill>
                <a:latin typeface="Consolas"/>
              </a:defRPr>
            </a:pPr>
            <a:r>
              <a:t>NUBAN VERIFIED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59" y="2075688"/>
            <a:ext cx="4937759" cy="3794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F9FAFB"/>
                </a:solidFill>
                <a:latin typeface="Segoe UI"/>
              </a:defRPr>
            </a:pPr>
            <a:r>
              <a:t>CBN NUBAN Verification &amp; SQLite Cache</a:t>
            </a:r>
          </a:p>
          <a:p>
            <a:pPr>
              <a:spcAft>
                <a:spcPts val="600"/>
              </a:spcAft>
              <a:defRPr sz="1250">
                <a:solidFill>
                  <a:srgbClr val="D1D5DB"/>
                </a:solidFill>
                <a:latin typeface="Segoe UI"/>
              </a:defRPr>
            </a:pPr>
            <a:r>
              <a:t>▸  Supports major commercial &amp; microfinance banks: OPay, Moniepoint, PalmPay, GTBank, Access, Zenith, UBA, FirstBank, Kuda.</a:t>
            </a:r>
          </a:p>
          <a:p>
            <a:pPr>
              <a:spcAft>
                <a:spcPts val="600"/>
              </a:spcAft>
              <a:defRPr sz="1250">
                <a:solidFill>
                  <a:srgbClr val="D1D5DB"/>
                </a:solidFill>
                <a:latin typeface="Segoe UI"/>
              </a:defRPr>
            </a:pPr>
            <a:r>
              <a:t>▸  Validates 10-digit account numbers using the official CBN Modulo-10 checksum algorithm.</a:t>
            </a:r>
          </a:p>
          <a:p>
            <a:pPr>
              <a:spcAft>
                <a:spcPts val="600"/>
              </a:spcAft>
              <a:defRPr sz="1250">
                <a:solidFill>
                  <a:srgbClr val="D1D5DB"/>
                </a:solidFill>
                <a:latin typeface="Segoe UI"/>
              </a:defRPr>
            </a:pPr>
            <a:r>
              <a:t>▸  Integrates live Paystack / Flutterwave bank lookup with deterministic local fallback.</a:t>
            </a:r>
          </a:p>
          <a:p>
            <a:pPr>
              <a:spcAft>
                <a:spcPts val="600"/>
              </a:spcAft>
              <a:defRPr sz="1250">
                <a:solidFill>
                  <a:srgbClr val="D1D5DB"/>
                </a:solidFill>
                <a:latin typeface="Segoe UI"/>
              </a:defRPr>
            </a:pPr>
            <a:r>
              <a:t>▸  Caches verified account names in SQLite (verified_bank_accounts) for instant repeat payouts.</a:t>
            </a:r>
          </a:p>
          <a:p>
            <a:pPr>
              <a:spcAft>
                <a:spcPts val="600"/>
              </a:spcAft>
              <a:defRPr sz="1250">
                <a:solidFill>
                  <a:srgbClr val="D1D5DB"/>
                </a:solidFill>
                <a:latin typeface="Segoe UI"/>
              </a:defRPr>
            </a:pPr>
            <a:r>
              <a:t>▸  One-tap Beneficiary Vault lets merchants save trusted supplier &amp; family bank accounts.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783080"/>
            <a:ext cx="5303520" cy="4206240"/>
          </a:xfrm>
          <a:prstGeom prst="roundRect">
            <a:avLst/>
          </a:prstGeom>
          <a:solidFill>
            <a:srgbClr val="11161F"/>
          </a:solidFill>
          <a:ln w="15240">
            <a:solidFill>
              <a:srgbClr val="2832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400800" y="1947672"/>
            <a:ext cx="502920" cy="54864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0" y="1892807"/>
            <a:ext cx="12801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50" b="1">
                <a:solidFill>
                  <a:srgbClr val="10B981"/>
                </a:solidFill>
                <a:latin typeface="Consolas"/>
              </a:defRPr>
            </a:pPr>
            <a:r>
              <a:t>ZERO STUCK FUNDS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2075688"/>
            <a:ext cx="4937759" cy="3794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F9FAFB"/>
                </a:solidFill>
                <a:latin typeface="Segoe UI"/>
              </a:defRPr>
            </a:pPr>
            <a:r>
              <a:t>Atomic Debit, Rollback Safety &amp; NIP Receipts</a:t>
            </a:r>
          </a:p>
          <a:p>
            <a:pPr>
              <a:spcAft>
                <a:spcPts val="600"/>
              </a:spcAft>
              <a:defRPr sz="1250">
                <a:solidFill>
                  <a:srgbClr val="D1D5DB"/>
                </a:solidFill>
                <a:latin typeface="Segoe UI"/>
              </a:defRPr>
            </a:pPr>
            <a:r>
              <a:t>▸  Step 1: SQLite locks and debits user SATS balance inside BEGIN IMMEDIATE transaction.</a:t>
            </a:r>
          </a:p>
          <a:p>
            <a:pPr>
              <a:spcAft>
                <a:spcPts val="600"/>
              </a:spcAft>
              <a:defRPr sz="1250">
                <a:solidFill>
                  <a:srgbClr val="D1D5DB"/>
                </a:solidFill>
                <a:latin typeface="Segoe UI"/>
              </a:defRPr>
            </a:pPr>
            <a:r>
              <a:t>▸  Step 2: Dispatches Naira transfer via fiat gateway and generates official NIP Session ID.</a:t>
            </a:r>
          </a:p>
          <a:p>
            <a:pPr>
              <a:spcAft>
                <a:spcPts val="600"/>
              </a:spcAft>
              <a:defRPr sz="1250">
                <a:solidFill>
                  <a:srgbClr val="D1D5DB"/>
                </a:solidFill>
                <a:latin typeface="Segoe UI"/>
              </a:defRPr>
            </a:pPr>
            <a:r>
              <a:t>▸  Step 3: If external bank rail times out or rejects, SQLite automatically refunds the user's SATS and marks the settlement ROLLED_BACK — zero stuck funds!</a:t>
            </a:r>
          </a:p>
          <a:p>
            <a:pPr>
              <a:spcAft>
                <a:spcPts val="600"/>
              </a:spcAft>
              <a:defRPr sz="1250">
                <a:solidFill>
                  <a:srgbClr val="D1D5DB"/>
                </a:solidFill>
                <a:latin typeface="Segoe UI"/>
              </a:defRPr>
            </a:pPr>
            <a:r>
              <a:t>▸  Step 4: Generates a printable / shareable Official NIP Bank Settlement Receipt.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6355080"/>
            <a:ext cx="108813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CA3AF"/>
                </a:solidFill>
                <a:latin typeface="Segoe UI"/>
              </a:defRPr>
            </a:pPr>
            <a:r>
              <a:t>BitFriend (BitAboki)  •  Sovereign Cashu Ecash, Lightning L2 &amp; African Banking Super-App          Slide 8 / 12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C1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F793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40080" y="411480"/>
            <a:ext cx="2560320" cy="329184"/>
          </a:xfrm>
          <a:prstGeom prst="roundRect">
            <a:avLst/>
          </a:prstGeom>
          <a:solidFill>
            <a:srgbClr val="181F2C"/>
          </a:solidFill>
          <a:ln w="12700">
            <a:solidFill>
              <a:srgbClr val="F793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000" b="1">
                <a:solidFill>
                  <a:srgbClr val="F7931A"/>
                </a:solidFill>
                <a:latin typeface="Segoe UI"/>
              </a:defRPr>
            </a:pPr>
            <a:r>
              <a:t>08 • SYSTEM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22960"/>
            <a:ext cx="108813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F9FAFB"/>
                </a:solidFill>
                <a:latin typeface="Segoe UI"/>
              </a:defRPr>
            </a:pPr>
            <a:r>
              <a:t>End-to-End Production Stack: Mobile APK + Web PWA + SQLite WAL Node</a:t>
            </a:r>
          </a:p>
          <a:p>
            <a:pPr>
              <a:spcBef>
                <a:spcPts val="400"/>
              </a:spcBef>
              <a:defRPr sz="1400">
                <a:solidFill>
                  <a:srgbClr val="9CA3AF"/>
                </a:solidFill>
                <a:latin typeface="Segoe UI"/>
              </a:defRPr>
            </a:pPr>
            <a:r>
              <a:t>Engineered for reliability, cryptographic integrity, and sub-second responsiveness.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783080"/>
            <a:ext cx="3474720" cy="4206240"/>
          </a:xfrm>
          <a:prstGeom prst="roundRect">
            <a:avLst/>
          </a:prstGeom>
          <a:solidFill>
            <a:srgbClr val="11161F"/>
          </a:solidFill>
          <a:ln w="15240">
            <a:solidFill>
              <a:srgbClr val="2832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22959" y="1947672"/>
            <a:ext cx="502920" cy="54864"/>
          </a:xfrm>
          <a:prstGeom prst="rect">
            <a:avLst/>
          </a:prstGeom>
          <a:solidFill>
            <a:srgbClr val="F793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651760" y="1892807"/>
            <a:ext cx="12801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50" b="1">
                <a:solidFill>
                  <a:srgbClr val="F7931A"/>
                </a:solidFill>
                <a:latin typeface="Consolas"/>
              </a:defRPr>
            </a:pPr>
            <a:r>
              <a:t>CLIENT TIER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59" y="2075688"/>
            <a:ext cx="3108960" cy="3794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F9FAFB"/>
                </a:solidFill>
                <a:latin typeface="Segoe UI"/>
              </a:defRPr>
            </a:pPr>
            <a:r>
              <a:t>Client Layer (PWA + Android APK)</a:t>
            </a:r>
          </a:p>
          <a:p>
            <a:pPr>
              <a:spcAft>
                <a:spcPts val="600"/>
              </a:spcAft>
              <a:defRPr sz="1250">
                <a:solidFill>
                  <a:srgbClr val="D1D5DB"/>
                </a:solidFill>
                <a:latin typeface="Segoe UI"/>
              </a:defRPr>
            </a:pPr>
            <a:r>
              <a:t>▸  React 19 + TypeScript + Vite 8.</a:t>
            </a:r>
          </a:p>
          <a:p>
            <a:pPr>
              <a:spcAft>
                <a:spcPts val="600"/>
              </a:spcAft>
              <a:defRPr sz="1250">
                <a:solidFill>
                  <a:srgbClr val="D1D5DB"/>
                </a:solidFill>
                <a:latin typeface="Segoe UI"/>
              </a:defRPr>
            </a:pPr>
            <a:r>
              <a:t>▸  Capacitor 8 Native Android APK (BitFriend-Production.apk).</a:t>
            </a:r>
          </a:p>
          <a:p>
            <a:pPr>
              <a:spcAft>
                <a:spcPts val="600"/>
              </a:spcAft>
              <a:defRPr sz="1250">
                <a:solidFill>
                  <a:srgbClr val="D1D5DB"/>
                </a:solidFill>
                <a:latin typeface="Segoe UI"/>
              </a:defRPr>
            </a:pPr>
            <a:r>
              <a:t>▸  @noble/curves &amp; @noble/hashes for client-side secp256k1 &amp; SHA-256.</a:t>
            </a:r>
          </a:p>
          <a:p>
            <a:pPr>
              <a:spcAft>
                <a:spcPts val="600"/>
              </a:spcAft>
              <a:defRPr sz="1250">
                <a:solidFill>
                  <a:srgbClr val="D1D5DB"/>
                </a:solidFill>
                <a:latin typeface="Segoe UI"/>
              </a:defRPr>
            </a:pPr>
            <a:r>
              <a:t>▸  WebCrypto AES-256-GCM + IndexedDB encrypted proof storage.</a:t>
            </a:r>
          </a:p>
          <a:p>
            <a:pPr>
              <a:spcAft>
                <a:spcPts val="600"/>
              </a:spcAft>
              <a:defRPr sz="1250">
                <a:solidFill>
                  <a:srgbClr val="D1D5DB"/>
                </a:solidFill>
                <a:latin typeface="Segoe UI"/>
              </a:defRPr>
            </a:pPr>
            <a:r>
              <a:t>▸  WebNFC, QR Scanner &amp; Bilingual Web Speech API.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43400" y="1783080"/>
            <a:ext cx="3474720" cy="4206240"/>
          </a:xfrm>
          <a:prstGeom prst="roundRect">
            <a:avLst/>
          </a:prstGeom>
          <a:solidFill>
            <a:srgbClr val="11161F"/>
          </a:solidFill>
          <a:ln w="15240">
            <a:solidFill>
              <a:srgbClr val="2832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26280" y="1947672"/>
            <a:ext cx="502920" cy="54864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55080" y="1892807"/>
            <a:ext cx="12801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50" b="1">
                <a:solidFill>
                  <a:srgbClr val="10B981"/>
                </a:solidFill>
                <a:latin typeface="Consolas"/>
              </a:defRPr>
            </a:pPr>
            <a:r>
              <a:t>SERVER TIER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26280" y="2075688"/>
            <a:ext cx="3108960" cy="3794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F9FAFB"/>
                </a:solidFill>
                <a:latin typeface="Segoe UI"/>
              </a:defRPr>
            </a:pPr>
            <a:r>
              <a:t>API &amp; Cryptographic Mint Tier</a:t>
            </a:r>
          </a:p>
          <a:p>
            <a:pPr>
              <a:spcAft>
                <a:spcPts val="600"/>
              </a:spcAft>
              <a:defRPr sz="1250">
                <a:solidFill>
                  <a:srgbClr val="D1D5DB"/>
                </a:solidFill>
                <a:latin typeface="Segoe UI"/>
              </a:defRPr>
            </a:pPr>
            <a:r>
              <a:t>▸  Node.js + Express 5 REST API + WebSocket (/ws) real-time event bus.</a:t>
            </a:r>
          </a:p>
          <a:p>
            <a:pPr>
              <a:spcAft>
                <a:spcPts val="600"/>
              </a:spcAft>
              <a:defRPr sz="1250">
                <a:solidFill>
                  <a:srgbClr val="D1D5DB"/>
                </a:solidFill>
                <a:latin typeface="Segoe UI"/>
              </a:defRPr>
            </a:pPr>
            <a:r>
              <a:t>▸  BIP-340 Schnorr Auth Service &amp; Bearer Session Middleware.</a:t>
            </a:r>
          </a:p>
          <a:p>
            <a:pPr>
              <a:spcAft>
                <a:spcPts val="600"/>
              </a:spcAft>
              <a:defRPr sz="1250">
                <a:solidFill>
                  <a:srgbClr val="D1D5DB"/>
                </a:solidFill>
                <a:latin typeface="Segoe UI"/>
              </a:defRPr>
            </a:pPr>
            <a:r>
              <a:t>▸  Cashu BDHKE Mint Service (NUT-01, NUT-02, NUT-03, NUT-04, NUT-05, NUT-07).</a:t>
            </a:r>
          </a:p>
          <a:p>
            <a:pPr>
              <a:spcAft>
                <a:spcPts val="600"/>
              </a:spcAft>
              <a:defRPr sz="1250">
                <a:solidFill>
                  <a:srgbClr val="D1D5DB"/>
                </a:solidFill>
                <a:latin typeface="Segoe UI"/>
              </a:defRPr>
            </a:pPr>
            <a:r>
              <a:t>▸  LUD-16 LNURL-pay Server &amp; NUBAN Fiat Off-Ramp Gateway.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46720" y="1783080"/>
            <a:ext cx="3474720" cy="4206240"/>
          </a:xfrm>
          <a:prstGeom prst="roundRect">
            <a:avLst/>
          </a:prstGeom>
          <a:solidFill>
            <a:srgbClr val="11161F"/>
          </a:solidFill>
          <a:ln w="15240">
            <a:solidFill>
              <a:srgbClr val="2832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229600" y="1947672"/>
            <a:ext cx="502920" cy="54864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058400" y="1892807"/>
            <a:ext cx="12801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50" b="1">
                <a:solidFill>
                  <a:srgbClr val="3B82F6"/>
                </a:solidFill>
                <a:latin typeface="Consolas"/>
              </a:defRPr>
            </a:pPr>
            <a:r>
              <a:t>DATA TIER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0" y="2075688"/>
            <a:ext cx="3108960" cy="3794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F9FAFB"/>
                </a:solidFill>
                <a:latin typeface="Segoe UI"/>
              </a:defRPr>
            </a:pPr>
            <a:r>
              <a:t>Persistence Layer (SQLite WAL)</a:t>
            </a:r>
          </a:p>
          <a:p>
            <a:pPr>
              <a:spcAft>
                <a:spcPts val="600"/>
              </a:spcAft>
              <a:defRPr sz="1250">
                <a:solidFill>
                  <a:srgbClr val="D1D5DB"/>
                </a:solidFill>
                <a:latin typeface="Segoe UI"/>
              </a:defRPr>
            </a:pPr>
            <a:r>
              <a:t>▸  Native node:sqlite with Write-Ahead Logging (PRAGMA journal_mode = WAL).</a:t>
            </a:r>
          </a:p>
          <a:p>
            <a:pPr>
              <a:spcAft>
                <a:spcPts val="600"/>
              </a:spcAft>
              <a:defRPr sz="1250">
                <a:solidFill>
                  <a:srgbClr val="D1D5DB"/>
                </a:solidFill>
                <a:latin typeface="Segoe UI"/>
              </a:defRPr>
            </a:pPr>
            <a:r>
              <a:t>▸  Strict Foreign Keys &amp; ACID Immediate Transactions.</a:t>
            </a:r>
          </a:p>
          <a:p>
            <a:pPr>
              <a:spcAft>
                <a:spcPts val="600"/>
              </a:spcAft>
              <a:defRPr sz="1250">
                <a:solidFill>
                  <a:srgbClr val="D1D5DB"/>
                </a:solidFill>
                <a:latin typeface="Segoe UI"/>
              </a:defRPr>
            </a:pPr>
            <a:r>
              <a:t>▸  15 Normalized Tables: users, auth_sessions, wallets, cashu_proofs, spent_secrets, lightning_invoices, chat_messages, pos_products, adashi_circles, fiat_settlements.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6355080"/>
            <a:ext cx="108813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CA3AF"/>
                </a:solidFill>
                <a:latin typeface="Segoe UI"/>
              </a:defRPr>
            </a:pPr>
            <a:r>
              <a:t>BitFriend (BitAboki)  •  Sovereign Cashu Ecash, Lightning L2 &amp; African Banking Super-App          Slide 9 / 12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C1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F793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40080" y="411480"/>
            <a:ext cx="2560320" cy="329184"/>
          </a:xfrm>
          <a:prstGeom prst="roundRect">
            <a:avLst/>
          </a:prstGeom>
          <a:solidFill>
            <a:srgbClr val="181F2C"/>
          </a:solidFill>
          <a:ln w="12700">
            <a:solidFill>
              <a:srgbClr val="F793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000" b="1">
                <a:solidFill>
                  <a:srgbClr val="F7931A"/>
                </a:solidFill>
                <a:latin typeface="Segoe UI"/>
              </a:defRPr>
            </a:pPr>
            <a:r>
              <a:t>09 • WHY BITFRIEND WINS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22960"/>
            <a:ext cx="108813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F9FAFB"/>
                </a:solidFill>
                <a:latin typeface="Segoe UI"/>
              </a:defRPr>
            </a:pPr>
            <a:r>
              <a:t>Competitive Matrix: BitFriend vs. Traditional Apps &amp; Crypto Wallets</a:t>
            </a:r>
          </a:p>
          <a:p>
            <a:pPr>
              <a:spcBef>
                <a:spcPts val="400"/>
              </a:spcBef>
              <a:defRPr sz="1400">
                <a:solidFill>
                  <a:srgbClr val="9CA3AF"/>
                </a:solidFill>
                <a:latin typeface="Segoe UI"/>
              </a:defRPr>
            </a:pPr>
            <a:r>
              <a:t>BitFriend is the only platform combining self-custodial offline Ecash with African merchant workflows.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40080" y="1783080"/>
          <a:ext cx="1088136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34640"/>
                <a:gridCol w="2194560"/>
                <a:gridCol w="1920240"/>
                <a:gridCol w="1920240"/>
                <a:gridCol w="2011680"/>
              </a:tblGrid>
              <a:tr h="685800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9FAFB"/>
                          </a:solidFill>
                          <a:latin typeface="Segoe UI"/>
                        </a:defRPr>
                      </a:pPr>
                      <a:r>
                        <a:t>Capability / Feature</a:t>
                      </a:r>
                    </a:p>
                  </a:txBody>
                  <a:tcPr>
                    <a:solidFill>
                      <a:srgbClr val="181F2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090C10"/>
                          </a:solidFill>
                          <a:latin typeface="Segoe UI"/>
                        </a:defRPr>
                      </a:pPr>
                      <a:r>
                        <a:t>BitFriend (BitAboki)</a:t>
                      </a:r>
                    </a:p>
                  </a:txBody>
                  <a:tcPr>
                    <a:solidFill>
                      <a:srgbClr val="F7931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9FAFB"/>
                          </a:solidFill>
                          <a:latin typeface="Segoe UI"/>
                        </a:defRPr>
                      </a:pPr>
                      <a:r>
                        <a:t>Traditional Banks (OPay/GTB)</a:t>
                      </a:r>
                    </a:p>
                  </a:txBody>
                  <a:tcPr>
                    <a:solidFill>
                      <a:srgbClr val="181F2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9FAFB"/>
                          </a:solidFill>
                          <a:latin typeface="Segoe UI"/>
                        </a:defRPr>
                      </a:pPr>
                      <a:r>
                        <a:t>Standard Lightning Wallets</a:t>
                      </a:r>
                    </a:p>
                  </a:txBody>
                  <a:tcPr>
                    <a:solidFill>
                      <a:srgbClr val="181F2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9FAFB"/>
                          </a:solidFill>
                          <a:latin typeface="Segoe UI"/>
                        </a:defRPr>
                      </a:pPr>
                      <a:r>
                        <a:t>Custodial Crypto Apps</a:t>
                      </a:r>
                    </a:p>
                  </a:txBody>
                  <a:tcPr>
                    <a:solidFill>
                      <a:srgbClr val="181F2C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>
                        <a:defRPr sz="1150" b="1">
                          <a:solidFill>
                            <a:srgbClr val="F9FAFB"/>
                          </a:solidFill>
                          <a:latin typeface="Segoe UI"/>
                        </a:defRPr>
                      </a:pPr>
                      <a:r>
                        <a:t>Offline Bearer Payments (QR/NFC)</a:t>
                      </a:r>
                    </a:p>
                  </a:txBody>
                  <a:tcPr>
                    <a:solidFill>
                      <a:srgbClr val="11161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 b="1">
                          <a:solidFill>
                            <a:srgbClr val="10B981"/>
                          </a:solidFill>
                          <a:latin typeface="Segoe UI"/>
                        </a:defRPr>
                      </a:pPr>
                      <a:r>
                        <a:t>YES (secp256k1 Cashu)</a:t>
                      </a:r>
                    </a:p>
                  </a:txBody>
                  <a:tcPr>
                    <a:solidFill>
                      <a:srgbClr val="181F2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 b="0">
                          <a:solidFill>
                            <a:srgbClr val="D1D5DB"/>
                          </a:solidFill>
                          <a:latin typeface="Segoe UI"/>
                        </a:defRPr>
                      </a:pPr>
                      <a:r>
                        <a:t>NO (Requires Network)</a:t>
                      </a:r>
                    </a:p>
                  </a:txBody>
                  <a:tcPr>
                    <a:solidFill>
                      <a:srgbClr val="11161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 b="0">
                          <a:solidFill>
                            <a:srgbClr val="D1D5DB"/>
                          </a:solidFill>
                          <a:latin typeface="Segoe UI"/>
                        </a:defRPr>
                      </a:pPr>
                      <a:r>
                        <a:t>NO (Requires Online L2)</a:t>
                      </a:r>
                    </a:p>
                  </a:txBody>
                  <a:tcPr>
                    <a:solidFill>
                      <a:srgbClr val="11161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 b="0">
                          <a:solidFill>
                            <a:srgbClr val="D1D5DB"/>
                          </a:solidFill>
                          <a:latin typeface="Segoe UI"/>
                        </a:defRPr>
                      </a:pPr>
                      <a:r>
                        <a:t>NO (Centralized API)</a:t>
                      </a:r>
                    </a:p>
                  </a:txBody>
                  <a:tcPr>
                    <a:solidFill>
                      <a:srgbClr val="11161F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>
                        <a:defRPr sz="1150" b="1">
                          <a:solidFill>
                            <a:srgbClr val="F9FAFB"/>
                          </a:solidFill>
                          <a:latin typeface="Segoe UI"/>
                        </a:defRPr>
                      </a:pPr>
                      <a:r>
                        <a:t>Self-Sovereign 12-Word Seed</a:t>
                      </a:r>
                    </a:p>
                  </a:txBody>
                  <a:tcPr>
                    <a:solidFill>
                      <a:srgbClr val="11161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 b="1">
                          <a:solidFill>
                            <a:srgbClr val="10B981"/>
                          </a:solidFill>
                          <a:latin typeface="Segoe UI"/>
                        </a:defRPr>
                      </a:pPr>
                      <a:r>
                        <a:t>YES (BIP-39 + NUT-13)</a:t>
                      </a:r>
                    </a:p>
                  </a:txBody>
                  <a:tcPr>
                    <a:solidFill>
                      <a:srgbClr val="181F2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 b="0">
                          <a:solidFill>
                            <a:srgbClr val="D1D5DB"/>
                          </a:solidFill>
                          <a:latin typeface="Segoe UI"/>
                        </a:defRPr>
                      </a:pPr>
                      <a:r>
                        <a:t>NO (Account Freezes)</a:t>
                      </a:r>
                    </a:p>
                  </a:txBody>
                  <a:tcPr>
                    <a:solidFill>
                      <a:srgbClr val="11161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 b="0">
                          <a:solidFill>
                            <a:srgbClr val="D1D5DB"/>
                          </a:solidFill>
                          <a:latin typeface="Segoe UI"/>
                        </a:defRPr>
                      </a:pPr>
                      <a:r>
                        <a:t>Partial (Channel Risk)</a:t>
                      </a:r>
                    </a:p>
                  </a:txBody>
                  <a:tcPr>
                    <a:solidFill>
                      <a:srgbClr val="11161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 b="0">
                          <a:solidFill>
                            <a:srgbClr val="D1D5DB"/>
                          </a:solidFill>
                          <a:latin typeface="Segoe UI"/>
                        </a:defRPr>
                      </a:pPr>
                      <a:r>
                        <a:t>NO (Custodial Lock-in)</a:t>
                      </a:r>
                    </a:p>
                  </a:txBody>
                  <a:tcPr>
                    <a:solidFill>
                      <a:srgbClr val="11161F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>
                        <a:defRPr sz="1150" b="1">
                          <a:solidFill>
                            <a:srgbClr val="F9FAFB"/>
                          </a:solidFill>
                          <a:latin typeface="Segoe UI"/>
                        </a:defRPr>
                      </a:pPr>
                      <a:r>
                        <a:t>Direct Nigerian Bank Cash-Out</a:t>
                      </a:r>
                    </a:p>
                  </a:txBody>
                  <a:tcPr>
                    <a:solidFill>
                      <a:srgbClr val="11161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 b="1">
                          <a:solidFill>
                            <a:srgbClr val="10B981"/>
                          </a:solidFill>
                          <a:latin typeface="Segoe UI"/>
                        </a:defRPr>
                      </a:pPr>
                      <a:r>
                        <a:t>YES (Instant NUBAN NIP)</a:t>
                      </a:r>
                    </a:p>
                  </a:txBody>
                  <a:tcPr>
                    <a:solidFill>
                      <a:srgbClr val="181F2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 b="0">
                          <a:solidFill>
                            <a:srgbClr val="D1D5DB"/>
                          </a:solidFill>
                          <a:latin typeface="Segoe UI"/>
                        </a:defRPr>
                      </a:pPr>
                      <a:r>
                        <a:t>YES (Naira Only)</a:t>
                      </a:r>
                    </a:p>
                  </a:txBody>
                  <a:tcPr>
                    <a:solidFill>
                      <a:srgbClr val="11161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 b="0">
                          <a:solidFill>
                            <a:srgbClr val="D1D5DB"/>
                          </a:solidFill>
                          <a:latin typeface="Segoe UI"/>
                        </a:defRPr>
                      </a:pPr>
                      <a:r>
                        <a:t>NO (Needs P2P Exchange)</a:t>
                      </a:r>
                    </a:p>
                  </a:txBody>
                  <a:tcPr>
                    <a:solidFill>
                      <a:srgbClr val="11161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 b="0">
                          <a:solidFill>
                            <a:srgbClr val="D1D5DB"/>
                          </a:solidFill>
                          <a:latin typeface="Segoe UI"/>
                        </a:defRPr>
                      </a:pPr>
                      <a:r>
                        <a:t>Often Restricted</a:t>
                      </a:r>
                    </a:p>
                  </a:txBody>
                  <a:tcPr>
                    <a:solidFill>
                      <a:srgbClr val="11161F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>
                        <a:defRPr sz="1150" b="1">
                          <a:solidFill>
                            <a:srgbClr val="F9FAFB"/>
                          </a:solidFill>
                          <a:latin typeface="Segoe UI"/>
                        </a:defRPr>
                      </a:pPr>
                      <a:r>
                        <a:t>Merchant POS + Stock + Hausa Voice</a:t>
                      </a:r>
                    </a:p>
                  </a:txBody>
                  <a:tcPr>
                    <a:solidFill>
                      <a:srgbClr val="11161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 b="1">
                          <a:solidFill>
                            <a:srgbClr val="10B981"/>
                          </a:solidFill>
                          <a:latin typeface="Segoe UI"/>
                        </a:defRPr>
                      </a:pPr>
                      <a:r>
                        <a:t>YES (Built-in SQLite POS)</a:t>
                      </a:r>
                    </a:p>
                  </a:txBody>
                  <a:tcPr>
                    <a:solidFill>
                      <a:srgbClr val="181F2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 b="0">
                          <a:solidFill>
                            <a:srgbClr val="D1D5DB"/>
                          </a:solidFill>
                          <a:latin typeface="Segoe UI"/>
                        </a:defRPr>
                      </a:pPr>
                      <a:r>
                        <a:t>Hardware POS Only</a:t>
                      </a:r>
                    </a:p>
                  </a:txBody>
                  <a:tcPr>
                    <a:solidFill>
                      <a:srgbClr val="11161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 b="0">
                          <a:solidFill>
                            <a:srgbClr val="D1D5DB"/>
                          </a:solidFill>
                          <a:latin typeface="Segoe UI"/>
                        </a:defRPr>
                      </a:pPr>
                      <a:r>
                        <a:t>NO</a:t>
                      </a:r>
                    </a:p>
                  </a:txBody>
                  <a:tcPr>
                    <a:solidFill>
                      <a:srgbClr val="11161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 b="0">
                          <a:solidFill>
                            <a:srgbClr val="D1D5DB"/>
                          </a:solidFill>
                          <a:latin typeface="Segoe UI"/>
                        </a:defRPr>
                      </a:pPr>
                      <a:r>
                        <a:t>NO</a:t>
                      </a:r>
                    </a:p>
                  </a:txBody>
                  <a:tcPr>
                    <a:solidFill>
                      <a:srgbClr val="11161F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>
                        <a:defRPr sz="1150" b="1">
                          <a:solidFill>
                            <a:srgbClr val="F9FAFB"/>
                          </a:solidFill>
                          <a:latin typeface="Segoe UI"/>
                        </a:defRPr>
                      </a:pPr>
                      <a:r>
                        <a:t>Adashi Cooperative Escrow + BitChat</a:t>
                      </a:r>
                    </a:p>
                  </a:txBody>
                  <a:tcPr>
                    <a:solidFill>
                      <a:srgbClr val="11161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 b="1">
                          <a:solidFill>
                            <a:srgbClr val="10B981"/>
                          </a:solidFill>
                          <a:latin typeface="Segoe UI"/>
                        </a:defRPr>
                      </a:pPr>
                      <a:r>
                        <a:t>YES (Native ACID Escrow)</a:t>
                      </a:r>
                    </a:p>
                  </a:txBody>
                  <a:tcPr>
                    <a:solidFill>
                      <a:srgbClr val="181F2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 b="0">
                          <a:solidFill>
                            <a:srgbClr val="D1D5DB"/>
                          </a:solidFill>
                          <a:latin typeface="Segoe UI"/>
                        </a:defRPr>
                      </a:pPr>
                      <a:r>
                        <a:t>NO</a:t>
                      </a:r>
                    </a:p>
                  </a:txBody>
                  <a:tcPr>
                    <a:solidFill>
                      <a:srgbClr val="11161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 b="0">
                          <a:solidFill>
                            <a:srgbClr val="D1D5DB"/>
                          </a:solidFill>
                          <a:latin typeface="Segoe UI"/>
                        </a:defRPr>
                      </a:pPr>
                      <a:r>
                        <a:t>NO</a:t>
                      </a:r>
                    </a:p>
                  </a:txBody>
                  <a:tcPr>
                    <a:solidFill>
                      <a:srgbClr val="11161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 b="0">
                          <a:solidFill>
                            <a:srgbClr val="D1D5DB"/>
                          </a:solidFill>
                          <a:latin typeface="Segoe UI"/>
                        </a:defRPr>
                      </a:pPr>
                      <a:r>
                        <a:t>NO</a:t>
                      </a:r>
                    </a:p>
                  </a:txBody>
                  <a:tcPr>
                    <a:solidFill>
                      <a:srgbClr val="11161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640080" y="6355080"/>
            <a:ext cx="108813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CA3AF"/>
                </a:solidFill>
                <a:latin typeface="Segoe UI"/>
              </a:defRPr>
            </a:pPr>
            <a:r>
              <a:t>BitFriend (BitAboki)  •  Sovereign Cashu Ecash, Lightning L2 &amp; African Banking Super-App          Slide 10 / 12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C1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F793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40080" y="411480"/>
            <a:ext cx="2560320" cy="329184"/>
          </a:xfrm>
          <a:prstGeom prst="roundRect">
            <a:avLst/>
          </a:prstGeom>
          <a:solidFill>
            <a:srgbClr val="181F2C"/>
          </a:solidFill>
          <a:ln w="12700">
            <a:solidFill>
              <a:srgbClr val="F793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000" b="1">
                <a:solidFill>
                  <a:srgbClr val="F7931A"/>
                </a:solidFill>
                <a:latin typeface="Segoe UI"/>
              </a:defRPr>
            </a:pPr>
            <a:r>
              <a:t>10 • LIVE DEMONSTRATION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22960"/>
            <a:ext cx="108813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F9FAFB"/>
                </a:solidFill>
                <a:latin typeface="Segoe UI"/>
              </a:defRPr>
            </a:pPr>
            <a:r>
              <a:t>6-Step Live Verification Flow (Zero Mockups — 100% Real Execution)</a:t>
            </a:r>
          </a:p>
          <a:p>
            <a:pPr>
              <a:spcBef>
                <a:spcPts val="400"/>
              </a:spcBef>
              <a:defRPr sz="1400">
                <a:solidFill>
                  <a:srgbClr val="9CA3AF"/>
                </a:solidFill>
                <a:latin typeface="Segoe UI"/>
              </a:defRPr>
            </a:pPr>
            <a:r>
              <a:t>Every action during our live demo executes real elliptic-curve cryptography and SQLite ACID transactions.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783080"/>
            <a:ext cx="3474720" cy="1965960"/>
          </a:xfrm>
          <a:prstGeom prst="roundRect">
            <a:avLst/>
          </a:prstGeom>
          <a:solidFill>
            <a:srgbClr val="11161F"/>
          </a:solidFill>
          <a:ln w="15240">
            <a:solidFill>
              <a:srgbClr val="2832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22959" y="1947672"/>
            <a:ext cx="502920" cy="54864"/>
          </a:xfrm>
          <a:prstGeom prst="rect">
            <a:avLst/>
          </a:prstGeom>
          <a:solidFill>
            <a:srgbClr val="F793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651760" y="1892807"/>
            <a:ext cx="12801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50" b="1">
                <a:solidFill>
                  <a:srgbClr val="F7931A"/>
                </a:solidFill>
                <a:latin typeface="Consolas"/>
              </a:defRPr>
            </a:pPr>
            <a:r>
              <a:t>DEMO 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59" y="2075688"/>
            <a:ext cx="310896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F9FAFB"/>
                </a:solidFill>
                <a:latin typeface="Segoe UI"/>
              </a:defRPr>
            </a:pPr>
            <a:r>
              <a:t>1. Sovereign Onboarding</a:t>
            </a:r>
          </a:p>
          <a:p>
            <a:pPr>
              <a:spcAft>
                <a:spcPts val="600"/>
              </a:spcAft>
              <a:defRPr sz="1250">
                <a:solidFill>
                  <a:srgbClr val="D1D5DB"/>
                </a:solidFill>
                <a:latin typeface="Segoe UI"/>
              </a:defRPr>
            </a:pPr>
            <a:r>
              <a:t>▸  Create a new wallet on the spot: generate 12 BIP-39 words, derive secp256k1 pubkey, and sign a BIP-340 Schnorr challenge.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43400" y="1783080"/>
            <a:ext cx="3474720" cy="1965960"/>
          </a:xfrm>
          <a:prstGeom prst="roundRect">
            <a:avLst/>
          </a:prstGeom>
          <a:solidFill>
            <a:srgbClr val="11161F"/>
          </a:solidFill>
          <a:ln w="15240">
            <a:solidFill>
              <a:srgbClr val="2832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26280" y="1947672"/>
            <a:ext cx="502920" cy="54864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55080" y="1892807"/>
            <a:ext cx="12801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50" b="1">
                <a:solidFill>
                  <a:srgbClr val="10B981"/>
                </a:solidFill>
                <a:latin typeface="Consolas"/>
              </a:defRPr>
            </a:pPr>
            <a:r>
              <a:t>DEMO 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26280" y="2075688"/>
            <a:ext cx="310896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F9FAFB"/>
                </a:solidFill>
                <a:latin typeface="Segoe UI"/>
              </a:defRPr>
            </a:pPr>
            <a:r>
              <a:t>2. Mint &amp; Send Cashu Note</a:t>
            </a:r>
          </a:p>
          <a:p>
            <a:pPr>
              <a:spcAft>
                <a:spcPts val="600"/>
              </a:spcAft>
              <a:defRPr sz="1250">
                <a:solidFill>
                  <a:srgbClr val="D1D5DB"/>
                </a:solidFill>
                <a:latin typeface="Segoe UI"/>
              </a:defRPr>
            </a:pPr>
            <a:r>
              <a:t>▸  Generate a real blind-signed cashuA... bearer token, then claim it via NUT-03 swap and test double-spend rejection.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46719" y="1783080"/>
            <a:ext cx="3474720" cy="1965960"/>
          </a:xfrm>
          <a:prstGeom prst="roundRect">
            <a:avLst/>
          </a:prstGeom>
          <a:solidFill>
            <a:srgbClr val="11161F"/>
          </a:solidFill>
          <a:ln w="15240">
            <a:solidFill>
              <a:srgbClr val="2832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229599" y="1947672"/>
            <a:ext cx="502920" cy="54864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058399" y="1892807"/>
            <a:ext cx="12801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50" b="1">
                <a:solidFill>
                  <a:srgbClr val="3B82F6"/>
                </a:solidFill>
                <a:latin typeface="Consolas"/>
              </a:defRPr>
            </a:pPr>
            <a:r>
              <a:t>DEMO 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599" y="2075688"/>
            <a:ext cx="310896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F9FAFB"/>
                </a:solidFill>
                <a:latin typeface="Segoe UI"/>
              </a:defRPr>
            </a:pPr>
            <a:r>
              <a:t>3. Lightning L2 Settlement</a:t>
            </a:r>
          </a:p>
          <a:p>
            <a:pPr>
              <a:spcAft>
                <a:spcPts val="600"/>
              </a:spcAft>
              <a:defRPr sz="1250">
                <a:solidFill>
                  <a:srgbClr val="D1D5DB"/>
                </a:solidFill>
                <a:latin typeface="Segoe UI"/>
              </a:defRPr>
            </a:pPr>
            <a:r>
              <a:t>▸  Issue a BOLT-11 invoice on the Lightning L2 card, verify SHA-256 preimage, and watch real-time WebSocket balance credit.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3959352"/>
            <a:ext cx="3474720" cy="1965960"/>
          </a:xfrm>
          <a:prstGeom prst="roundRect">
            <a:avLst/>
          </a:prstGeom>
          <a:solidFill>
            <a:srgbClr val="11161F"/>
          </a:solidFill>
          <a:ln w="15240">
            <a:solidFill>
              <a:srgbClr val="2832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22959" y="4123944"/>
            <a:ext cx="502920" cy="54864"/>
          </a:xfrm>
          <a:prstGeom prst="rect">
            <a:avLst/>
          </a:prstGeom>
          <a:solidFill>
            <a:srgbClr val="F793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651760" y="4069080"/>
            <a:ext cx="12801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50" b="1">
                <a:solidFill>
                  <a:srgbClr val="F7931A"/>
                </a:solidFill>
                <a:latin typeface="Consolas"/>
              </a:defRPr>
            </a:pPr>
            <a:r>
              <a:t>DEMO 04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59" y="4251960"/>
            <a:ext cx="310896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F9FAFB"/>
                </a:solidFill>
                <a:latin typeface="Segoe UI"/>
              </a:defRPr>
            </a:pPr>
            <a:r>
              <a:t>4. BitChat P2P Envelope</a:t>
            </a:r>
          </a:p>
          <a:p>
            <a:pPr>
              <a:spcAft>
                <a:spcPts val="600"/>
              </a:spcAft>
              <a:defRPr sz="1250">
                <a:solidFill>
                  <a:srgbClr val="D1D5DB"/>
                </a:solidFill>
                <a:latin typeface="Segoe UI"/>
              </a:defRPr>
            </a:pPr>
            <a:r>
              <a:t>▸  Send an interactive Satoshi envelope inside BitChat and verify SQLite persistence across browser refreshes.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343400" y="3959352"/>
            <a:ext cx="3474720" cy="1965960"/>
          </a:xfrm>
          <a:prstGeom prst="roundRect">
            <a:avLst/>
          </a:prstGeom>
          <a:solidFill>
            <a:srgbClr val="11161F"/>
          </a:solidFill>
          <a:ln w="15240">
            <a:solidFill>
              <a:srgbClr val="2832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526280" y="4123944"/>
            <a:ext cx="502920" cy="54864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55080" y="4069080"/>
            <a:ext cx="12801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50" b="1">
                <a:solidFill>
                  <a:srgbClr val="10B981"/>
                </a:solidFill>
                <a:latin typeface="Consolas"/>
              </a:defRPr>
            </a:pPr>
            <a:r>
              <a:t>DEMO 05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26280" y="4251960"/>
            <a:ext cx="310896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F9FAFB"/>
                </a:solidFill>
                <a:latin typeface="Segoe UI"/>
              </a:defRPr>
            </a:pPr>
            <a:r>
              <a:t>5. POS Inventory &amp; Adashi</a:t>
            </a:r>
          </a:p>
          <a:p>
            <a:pPr>
              <a:spcAft>
                <a:spcPts val="600"/>
              </a:spcAft>
              <a:defRPr sz="1250">
                <a:solidFill>
                  <a:srgbClr val="D1D5DB"/>
                </a:solidFill>
                <a:latin typeface="Segoe UI"/>
              </a:defRPr>
            </a:pPr>
            <a:r>
              <a:t>▸  Ring up a catalog item on the POS terminal (watching stock decrement in SQLite) and contribute to an Adashi savings pool.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046719" y="3959352"/>
            <a:ext cx="3474720" cy="1965960"/>
          </a:xfrm>
          <a:prstGeom prst="roundRect">
            <a:avLst/>
          </a:prstGeom>
          <a:solidFill>
            <a:srgbClr val="11161F"/>
          </a:solidFill>
          <a:ln w="15240">
            <a:solidFill>
              <a:srgbClr val="2832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229599" y="4123944"/>
            <a:ext cx="502920" cy="54864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058399" y="4069080"/>
            <a:ext cx="12801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50" b="1">
                <a:solidFill>
                  <a:srgbClr val="3B82F6"/>
                </a:solidFill>
                <a:latin typeface="Consolas"/>
              </a:defRPr>
            </a:pPr>
            <a:r>
              <a:t>DEMO 06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29599" y="4251960"/>
            <a:ext cx="310896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F9FAFB"/>
                </a:solidFill>
                <a:latin typeface="Segoe UI"/>
              </a:defRPr>
            </a:pPr>
            <a:r>
              <a:t>6. NUBAN Bank Off-Ramp</a:t>
            </a:r>
          </a:p>
          <a:p>
            <a:pPr>
              <a:spcAft>
                <a:spcPts val="600"/>
              </a:spcAft>
              <a:defRPr sz="1250">
                <a:solidFill>
                  <a:srgbClr val="D1D5DB"/>
                </a:solidFill>
                <a:latin typeface="Segoe UI"/>
              </a:defRPr>
            </a:pPr>
            <a:r>
              <a:t>▸  Verify a 10-digit Nigerian bank account via CBN checksum, execute an atomic Naira payout, and print the NIP receipt.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0080" y="6355080"/>
            <a:ext cx="108813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CA3AF"/>
                </a:solidFill>
                <a:latin typeface="Segoe UI"/>
              </a:defRPr>
            </a:pPr>
            <a:r>
              <a:t>BitFriend (BitAboki)  •  Sovereign Cashu Ecash, Lightning L2 &amp; African Banking Super-App          Slide 11 / 12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C1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F793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40080" y="411480"/>
            <a:ext cx="2560320" cy="329184"/>
          </a:xfrm>
          <a:prstGeom prst="roundRect">
            <a:avLst/>
          </a:prstGeom>
          <a:solidFill>
            <a:srgbClr val="181F2C"/>
          </a:solidFill>
          <a:ln w="12700">
            <a:solidFill>
              <a:srgbClr val="F793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000" b="1">
                <a:solidFill>
                  <a:srgbClr val="F7931A"/>
                </a:solidFill>
                <a:latin typeface="Segoe UI"/>
              </a:defRPr>
            </a:pPr>
            <a:r>
              <a:t>11 • BUSINESS MODEL &amp; IMPACT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22960"/>
            <a:ext cx="108813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F9FAFB"/>
                </a:solidFill>
                <a:latin typeface="Segoe UI"/>
              </a:defRPr>
            </a:pPr>
            <a:r>
              <a:t>Sustainable Unit Economics &amp; Pan-African Expansion Roadmap</a:t>
            </a:r>
          </a:p>
          <a:p>
            <a:pPr>
              <a:spcBef>
                <a:spcPts val="400"/>
              </a:spcBef>
              <a:defRPr sz="1400">
                <a:solidFill>
                  <a:srgbClr val="9CA3AF"/>
                </a:solidFill>
                <a:latin typeface="Segoe UI"/>
              </a:defRPr>
            </a:pPr>
            <a:r>
              <a:t>Empowering 40M+ MSMEs across Nigeria and West Africa with sovereign, unstoppable financial tools.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783080"/>
            <a:ext cx="3474720" cy="4206240"/>
          </a:xfrm>
          <a:prstGeom prst="roundRect">
            <a:avLst/>
          </a:prstGeom>
          <a:solidFill>
            <a:srgbClr val="11161F"/>
          </a:solidFill>
          <a:ln w="15240">
            <a:solidFill>
              <a:srgbClr val="2832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22959" y="1947672"/>
            <a:ext cx="502920" cy="54864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651760" y="1892807"/>
            <a:ext cx="12801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50" b="1">
                <a:solidFill>
                  <a:srgbClr val="10B981"/>
                </a:solidFill>
                <a:latin typeface="Consolas"/>
              </a:defRPr>
            </a:pPr>
            <a:r>
              <a:t>REVENUE MODEL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59" y="2075688"/>
            <a:ext cx="3108960" cy="3794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F9FAFB"/>
                </a:solidFill>
                <a:latin typeface="Segoe UI"/>
              </a:defRPr>
            </a:pPr>
            <a:r>
              <a:t>Revenue &amp; Unit Economics</a:t>
            </a:r>
          </a:p>
          <a:p>
            <a:pPr>
              <a:spcAft>
                <a:spcPts val="600"/>
              </a:spcAft>
              <a:defRPr sz="1250">
                <a:solidFill>
                  <a:srgbClr val="D1D5DB"/>
                </a:solidFill>
                <a:latin typeface="Segoe UI"/>
              </a:defRPr>
            </a:pPr>
            <a:r>
              <a:t>▸  0% Fee on P2P Cashu Ecash transfers (drives viral grassroots merchant adoption).</a:t>
            </a:r>
          </a:p>
          <a:p>
            <a:pPr>
              <a:spcAft>
                <a:spcPts val="600"/>
              </a:spcAft>
              <a:defRPr sz="1250">
                <a:solidFill>
                  <a:srgbClr val="D1D5DB"/>
                </a:solidFill>
                <a:latin typeface="Segoe UI"/>
              </a:defRPr>
            </a:pPr>
            <a:r>
              <a:t>▸  0.5% – 0.8% FX Spread on Instant Fiat Naira (₦) Off-Ramp settlements.</a:t>
            </a:r>
          </a:p>
          <a:p>
            <a:pPr>
              <a:spcAft>
                <a:spcPts val="600"/>
              </a:spcAft>
              <a:defRPr sz="1250">
                <a:solidFill>
                  <a:srgbClr val="D1D5DB"/>
                </a:solidFill>
                <a:latin typeface="Segoe UI"/>
              </a:defRPr>
            </a:pPr>
            <a:r>
              <a:t>▸  0.25% Coordinator Fee on automated Adashi enterprise/cooperative payout pools.</a:t>
            </a:r>
          </a:p>
          <a:p>
            <a:pPr>
              <a:spcAft>
                <a:spcPts val="600"/>
              </a:spcAft>
              <a:defRPr sz="1250">
                <a:solidFill>
                  <a:srgbClr val="D1D5DB"/>
                </a:solidFill>
                <a:latin typeface="Segoe UI"/>
              </a:defRPr>
            </a:pPr>
            <a:r>
              <a:t>▸  Merchant Pro Analytics &amp; Multi-Branch POS cloud sync subscriptions.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43400" y="1783080"/>
            <a:ext cx="3474720" cy="4206240"/>
          </a:xfrm>
          <a:prstGeom prst="roundRect">
            <a:avLst/>
          </a:prstGeom>
          <a:solidFill>
            <a:srgbClr val="11161F"/>
          </a:solidFill>
          <a:ln w="15240">
            <a:solidFill>
              <a:srgbClr val="2832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26280" y="1947672"/>
            <a:ext cx="502920" cy="54864"/>
          </a:xfrm>
          <a:prstGeom prst="rect">
            <a:avLst/>
          </a:prstGeom>
          <a:solidFill>
            <a:srgbClr val="F793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55080" y="1892807"/>
            <a:ext cx="12801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50" b="1">
                <a:solidFill>
                  <a:srgbClr val="F7931A"/>
                </a:solidFill>
                <a:latin typeface="Consolas"/>
              </a:defRPr>
            </a:pPr>
            <a:r>
              <a:t>ROADMAP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26280" y="2075688"/>
            <a:ext cx="3108960" cy="3794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F9FAFB"/>
                </a:solidFill>
                <a:latin typeface="Segoe UI"/>
              </a:defRPr>
            </a:pPr>
            <a:r>
              <a:t>Rollout Roadmap</a:t>
            </a:r>
          </a:p>
          <a:p>
            <a:pPr>
              <a:spcAft>
                <a:spcPts val="600"/>
              </a:spcAft>
              <a:defRPr sz="1250">
                <a:solidFill>
                  <a:srgbClr val="D1D5DB"/>
                </a:solidFill>
                <a:latin typeface="Segoe UI"/>
              </a:defRPr>
            </a:pPr>
            <a:r>
              <a:t>▸  Phase 1 (Complete): Full secp256k1 Cashu Mint, Schnorr Auth, POS, Adashi, NUBAN Bridge &amp; Android APK.</a:t>
            </a:r>
          </a:p>
          <a:p>
            <a:pPr>
              <a:spcAft>
                <a:spcPts val="600"/>
              </a:spcAft>
              <a:defRPr sz="1250">
                <a:solidFill>
                  <a:srgbClr val="D1D5DB"/>
                </a:solidFill>
                <a:latin typeface="Segoe UI"/>
              </a:defRPr>
            </a:pPr>
            <a:r>
              <a:t>▸  Phase 2 (Q3): Fedimint Federation bridge &amp; multi-mint liquidity routing across West Africa.</a:t>
            </a:r>
          </a:p>
          <a:p>
            <a:pPr>
              <a:spcAft>
                <a:spcPts val="600"/>
              </a:spcAft>
              <a:defRPr sz="1250">
                <a:solidFill>
                  <a:srgbClr val="D1D5DB"/>
                </a:solidFill>
                <a:latin typeface="Segoe UI"/>
              </a:defRPr>
            </a:pPr>
            <a:r>
              <a:t>▸  Phase 3 (Q4): USSD / SMS Ecash voucher gateway for feature phones without smartphones.</a:t>
            </a:r>
          </a:p>
          <a:p>
            <a:pPr>
              <a:spcAft>
                <a:spcPts val="600"/>
              </a:spcAft>
              <a:defRPr sz="1250">
                <a:solidFill>
                  <a:srgbClr val="D1D5DB"/>
                </a:solidFill>
                <a:latin typeface="Segoe UI"/>
              </a:defRPr>
            </a:pPr>
            <a:r>
              <a:t>▸  Phase 4: Pan-African expansion (KES M-Pesa, GHS Mobile Money, XOF corridors).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46720" y="1783080"/>
            <a:ext cx="3474720" cy="4206240"/>
          </a:xfrm>
          <a:prstGeom prst="roundRect">
            <a:avLst/>
          </a:prstGeom>
          <a:solidFill>
            <a:srgbClr val="11161F"/>
          </a:solidFill>
          <a:ln w="15240">
            <a:solidFill>
              <a:srgbClr val="2832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229600" y="1947672"/>
            <a:ext cx="502920" cy="54864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058400" y="1892807"/>
            <a:ext cx="12801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50" b="1">
                <a:solidFill>
                  <a:srgbClr val="3B82F6"/>
                </a:solidFill>
                <a:latin typeface="Consolas"/>
              </a:defRPr>
            </a:pPr>
            <a:r>
              <a:t>THANK YOU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0" y="2075688"/>
            <a:ext cx="3108960" cy="3794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F9FAFB"/>
                </a:solidFill>
                <a:latin typeface="Segoe UI"/>
              </a:defRPr>
            </a:pPr>
            <a:r>
              <a:t>Ready to Win &amp; Scale Today</a:t>
            </a:r>
          </a:p>
          <a:p>
            <a:pPr>
              <a:spcAft>
                <a:spcPts val="600"/>
              </a:spcAft>
              <a:defRPr sz="1250">
                <a:solidFill>
                  <a:srgbClr val="D1D5DB"/>
                </a:solidFill>
                <a:latin typeface="Segoe UI"/>
              </a:defRPr>
            </a:pPr>
            <a:r>
              <a:t>▸  21/21 Automated Cryptographic &amp; SQLite Integration Checks Passing.</a:t>
            </a:r>
          </a:p>
          <a:p>
            <a:pPr>
              <a:spcAft>
                <a:spcPts val="600"/>
              </a:spcAft>
              <a:defRPr sz="1250">
                <a:solidFill>
                  <a:srgbClr val="D1D5DB"/>
                </a:solidFill>
                <a:latin typeface="Segoe UI"/>
              </a:defRPr>
            </a:pPr>
            <a:r>
              <a:t>▸  Web PWA + Native Android APK compiled and ready for immediate distribution.</a:t>
            </a:r>
          </a:p>
          <a:p>
            <a:pPr>
              <a:spcAft>
                <a:spcPts val="600"/>
              </a:spcAft>
              <a:defRPr sz="1250">
                <a:solidFill>
                  <a:srgbClr val="D1D5DB"/>
                </a:solidFill>
                <a:latin typeface="Segoe UI"/>
              </a:defRPr>
            </a:pPr>
            <a:r>
              <a:t>▸  Built for real traders: English &amp; Hausa localization, voice receipts, and zero custodial risk.</a:t>
            </a:r>
          </a:p>
          <a:p>
            <a:pPr>
              <a:spcAft>
                <a:spcPts val="600"/>
              </a:spcAft>
              <a:defRPr sz="1250">
                <a:solidFill>
                  <a:srgbClr val="D1D5DB"/>
                </a:solidFill>
                <a:latin typeface="Segoe UI"/>
              </a:defRPr>
            </a:pPr>
            <a:r>
              <a:t>▸  Thank You! Let's open BitFriend for a live demonstration.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6355080"/>
            <a:ext cx="108813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CA3AF"/>
                </a:solidFill>
                <a:latin typeface="Segoe UI"/>
              </a:defRPr>
            </a:pPr>
            <a:r>
              <a:t>BitFriend (BitAboki)  •  Sovereign Cashu Ecash, Lightning L2 &amp; African Banking Super-App          Slide 12 / 12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